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今天这次主要讲 MXFP8 在训练框架里的运行机制。大家已经熟悉 BF16/FP16 混合精度，所以 AMP 的基本概念不再展开，重点放在 FP8 以后新增的 scale、量化表示和低精 GEMM 执行链。</a:t>
            </a:r>
          </a:p>
          <a:p/>
          <a:p>
            <a:r>
              <a:t>这条线会从 BF16 过渡到 FP8，先解释为什么单靠 FP8 编码不够，必须引入 scale；然后看普通 FP8 的 DelayedScaling，再看 MXFP8 为什么把 scale 细化到 32 个元素一组。最后再落到 TE 和 MindSpeed/NPU：框架到底怎样管理量化数据、scale、GEMM、缓存和通信。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先把边界讲清楚：这里讨论的 FP8/MXFP8，不是把模型整体做一次 `model.to(FP8)`，也不是让所有 tensor 长期以 FP8 保存。训练里很多状态仍然保持高精，低精主要发生在模块内部的关键 GEMM 路径。</a:t>
            </a:r>
          </a:p>
          <a:p/>
          <a:p>
            <a:r>
              <a:t>BF16 比较容易接入，是因为它的指数范围接近 FP32；FP8 不一样，动态范围和有效精度都更紧，所以必须配合 scale、量化缓存和专门的低精 GEMM kernel。</a:t>
            </a:r>
          </a:p>
          <a:p/>
          <a:p>
            <a:r>
              <a:t>所以这次真正要理解的是一套低精运行时：什么时候量化，scale 怎么产生和保存，低精 GEMM 消费什么表示，哪些结果能缓存复用，通信路径传的是高精 tensor 还是 data + scale。这些环节连起来，才是一条可训练的低精执行闭环。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先讲为什么值得关注。FP8/MXFP8 的收益不是来自“模型全局变成 8bit”，而是来自把训练里的核心 GEMM 主路径放到低精执行。以 Linear 为例，forward 是 `x @ w^T`，反向里还有 dgrad 和 wgrad，这三条都是 GEMM。</a:t>
            </a:r>
          </a:p>
          <a:p/>
          <a:p>
            <a:r>
              <a:t>收益主要有两部分：第一，低精 GEMM 在硬件上的吞吐更高；第二，activation、weight、gradient 作为 GEMM 输入时位宽下降，关键路径上的访存压力也会下降。</a:t>
            </a:r>
          </a:p>
          <a:p/>
          <a:p>
            <a:r>
              <a:t>但端到端收益不能按 dtype 位宽直接推。量化、scale 更新、缓存维护、通信同步都会吃掉一部分收益。后面讲每个机制时，可以一直带着这个公式看：收益来自低精 GEMM 和带宽，成本来自量化、scale、缓存和通信。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这里先用公开结果建立一个量级感。Float8 in PyTorch 的早期实验里，小规模训练可以到 up to 1.2x；LLaMA 7B 单卡和 LLaMA 13B 多卡也在 1.20x 到 1.22x 这个区间。</a:t>
            </a:r>
          </a:p>
          <a:p/>
          <a:p>
            <a:r>
              <a:t>TorchAO + TorchTitan 的 MXFP8 结果更贴近今天的主题。Crusoe B200 上 Llama3-70B 预训练公开结果是 1.22x 到 1.28x；Llama4 Scout 在 GB200 上的 MoE 训练结果是 30.2% speedup，约等于 1.3x。</a:t>
            </a:r>
          </a:p>
          <a:p/>
          <a:p>
            <a:r>
              <a:t>这组数据只用来建立预期，不当作我们环境里的承诺。它来自 PyTorch / TorchAO / TorchTitan 生态公开资料，不是 TE 官方 benchmark，也不能直接外推到我们的模型、硬件和并行策略。可以确定的是，FP8/MXFP8 已经在公开训练系统里跑出了端到端收益，后面要看的是机制和落地条件。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接下来从 BF16 过渡到 FP8。BF16 保留了 8bit exponent，所以动态范围接近 FP32，这也是很多 BF16 混合精度路径能比较自然接入的原因。</a:t>
            </a:r>
          </a:p>
          <a:p/>
          <a:p>
            <a:r>
              <a:t>FP8 的情况不同。E4M3 的范围大约是正负 448，E5M2 的范围大约是正负 57344。E4M3 尾数位更多，精度相对高一些，但范围小；E5M2 范围更大，但有效精度更低。</a:t>
            </a:r>
          </a:p>
          <a:p/>
          <a:p>
            <a:r>
              <a:t>从这组范围可以看到，单靠 FP8 编码很难直接承接训练中 input、activation、weight、gradient 的数值分布，所以必须引入新的机制：scale，把真实值按比例压到 FP8 可表示范围内。</a:t>
            </a:r>
          </a:p>
          <a:p/>
          <a:p>
            <a:r>
              <a:t>更准确地说，FP8 格式规定的是编码空间，包括指数位、尾数位、最大有限值和可表示间隔；scale 负责建立真实训练值到这个编码空间之间的比例关系。后面所有 FP8/MXFP8 机制，基本都围绕这件事展开。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有了 scale 之后，FP8 训练里的基本对象就不是一个裸 FP8 tensor，而是一组量化表示：FP8 data 加上对应的 scale 或 scale_inv。</a:t>
            </a:r>
          </a:p>
          <a:p/>
          <a:p>
            <a:r>
              <a:t>可以用这个近似式理解：先用 scale 调整输入的数值范围，再 cast 成 FP8。后续 GEMM kernel 不能只看 data，它还需要知道这批 data 对应的缩放关系，否则就没法恢复正确的数值语义。</a:t>
            </a:r>
          </a:p>
          <a:p/>
          <a:p>
            <a:r>
              <a:t>这个认识很重要。后面讲 DelayedScaling、MXFP8、rowwise 和 columnwise，本质上都是在回答同一组问题：scale 从哪里来，粒度多细，怎么和 data 绑定，又由哪个 GEMM kernel 消费。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理解了 FP8 表示之后，再看它主要被谁消费。FP8 量化表示主要服务低精 GEMM kernel，不是为了让所有算子都变成 FP8。</a:t>
            </a:r>
          </a:p>
          <a:p/>
          <a:p>
            <a:r>
              <a:t>这条路径可以概括为：高精 tensor 先转成量化数据和 scale，低精 GEMM kernel 消费这组表示，输出再回到高精语义，继续交给后面的 loss、backward 或 optimizer。</a:t>
            </a:r>
          </a:p>
          <a:p/>
          <a:p>
            <a:r>
              <a:t>后面固定用 Linear 作为例子。forward 是 `x @ w^T`，反向里有 dgrad 和 wgrad。TE runtime、MXFP8 的 rowwise/columnwise、缓存复用，都会落回这三条 GEMM 来解释。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进入普通 FP8 后，先看一个最小闭环。DelayedScaling 的核心不是“本轮算出 scale 本轮马上用”，而是本轮先用已有 scale 完成量化和 GEMM，同时记录新的 amax。</a:t>
            </a:r>
          </a:p>
          <a:p/>
          <a:p>
            <a:r>
              <a:t>流程可以按图上这条环来讲：`scale_n` 进入 quantize，GEMM 执行时记录 `amax_n`，收尾阶段根据 amax 更新出下一轮要用的 scale。也就是本轮用旧 scale，本轮记录新 amax，统一更新后给下一轮用。</a:t>
            </a:r>
          </a:p>
          <a:p/>
          <a:p>
            <a:r>
              <a:t>这样做的好处是 scale 更新更稳定，也方便 runtime 批量管理每个模块的 amax、history 和 scale 状态。下一页把这几个状态拆开讲清楚。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DelayedScaling 里最容易混在一起的是这三个概念。`amax` 是观测值，表示本轮看到的最大绝对值；`scale` 是下一次量化真正使用的控制量；`amax_history` 是历史窗口，用来避免一次异常值把 scale 拉得过猛。</a:t>
            </a:r>
          </a:p>
          <a:p/>
          <a:p>
            <a:r>
              <a:t>DelayedScaling 的“delayed”就在这里：本轮先观测，观测结果延后影响后续量化使用的 scale。它牺牲一点即时性，换来更稳定的 scale 更新。</a:t>
            </a:r>
          </a:p>
          <a:p/>
          <a:p>
            <a:r>
              <a:t>从框架角度看，这些状态不是临时局部变量，而是模块生命周期里的运行时状态。TE 需要 recipe state，本质上就是为了保存和更新这些量。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普通 FP8 的主要限制来自 scale 粒度。如果一个 tensor 或较大范围共用一个 scale，而内部数值分布差异很大，scale 往往要照顾大值，小值就更容易损失有效精度。</a:t>
            </a:r>
          </a:p>
          <a:p/>
          <a:p>
            <a:r>
              <a:t>另外，scale 和 amax 的维护本身也有成本。单机里是状态管理和更新开销；分布式场景里，如果多个 rank 的分片要作为同一个逻辑 tensor 进入低精 kernel，还可能需要同步 amax。</a:t>
            </a:r>
          </a:p>
          <a:p/>
          <a:p>
            <a:r>
              <a:t>这就引出 MXFP8：它不取消 scale，而是把 scale 粒度进一步切细，让每个 scale 覆盖更窄的数值范围。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MXFP8 的核心是 microscaling。可以先记住这个定义：MXFP8 等于 FP8 data 加 E8M0 microscale。</a:t>
            </a:r>
          </a:p>
          <a:p/>
          <a:p>
            <a:r>
              <a:t>它把 scale 粒度从 tensor 级或较粗粒度，细化到连续 32 个元素一组。每个 32 元素 block 共享一个 E8M0 scale，E8M0 可以理解为 power-of-two microscale。</a:t>
            </a:r>
          </a:p>
          <a:p/>
          <a:p>
            <a:r>
              <a:t>所以 MXFP8 仍然是 data + scale，只是 scale 不再是整个 tensor 一份，而是 block 级一份。这个变化能让每个 scale 覆盖的数值范围更窄，降低 tensor 内部分布不均带来的量化误差。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这页从两个视角看 MXFP8。对算法同事来说，价值在于 scale 粒度变细。每个 scale 覆盖的值域更窄，对 activation、weight、gradient 的局部分布差异更友好，量化误差更可控。</a:t>
            </a:r>
          </a:p>
          <a:p/>
          <a:p>
            <a:r>
              <a:t>对框架同事来说，变化集中在表示复杂度上。scale 被细化到 32 元素 block 后，每段 FP8 data 都必须按对应的 block scale 解释，data 和 scale 的绑定关系变得更强。</a:t>
            </a:r>
          </a:p>
          <a:p/>
          <a:p>
            <a:r>
              <a:t>因此 GEMM kernel、缓存复用、通信路径都要维护 data 和 block scale 的配对关系。scale 不再只是一个 tensor 级元数据，而是更细粒度的运行时表示。</a:t>
            </a:r>
          </a:p>
          <a:p/>
          <a:p>
            <a:r>
              <a:t>还有一个工程约束：block 是 32 个连续元素，shape 和并行切分边界如果破坏 32 对齐，就可能影响能否保持原生 MXFP8 表示。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这里要特别讲清楚 block 的方向。MXFP8 的 block 是一维连续 32 个元素，不是一个二维 tile 共用一个 scale。</a:t>
            </a:r>
          </a:p>
          <a:p/>
          <a:p>
            <a:r>
              <a:t>同样的规则放到二维矩阵里，就必须选择连续 32 个元素沿哪个方向取。沿行方向分组，就是 rowwise；沿列方向分组，就是 columnwise。</a:t>
            </a:r>
          </a:p>
          <a:p/>
          <a:p>
            <a:r>
              <a:t>这个区别不是命名差异，而是不同的 data + scale 配对关系。后续 GEMM 对输入矩阵的消费方向不同，所以 MXFP8 tensor 往往要准备 rowwise 和 columnwise 两种表示。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这一页接着说明为什么 rowwise 和 columnwise 不能靠一个 transpose 解决。关键点是：scale 不是独立标签，它绑定在某个方向上的 32 元素连续 block 上。</a:t>
            </a:r>
          </a:p>
          <a:p/>
          <a:p>
            <a:r>
              <a:t>如果先 quantize 再 transpose，FP8 data 可以转置，但 scale 分组仍然来自原来的连续方向。如果先 transpose 再 quantize，scale 会按转置后的连续方向重新计算。两条路径得到的 data + scale 配对关系不同。</a:t>
            </a:r>
          </a:p>
          <a:p/>
          <a:p>
            <a:r>
              <a:t>这会直接影响 GEMM 和缓存复用。GEMM 的 transpose flag 只能改变矩阵访问布局，不能重新生成正确方向的 block scale。如果方向不匹配，就需要重新量化，或者在前面提前准备另一种表示。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这一页把普通 FP8 的 DelayedScaling 和 MXFP8 放在一起对比。DelayedScaling 的重点是维护 scale、amax history，并在合适时机更新下一轮 scale。</a:t>
            </a:r>
          </a:p>
          <a:p/>
          <a:p>
            <a:r>
              <a:t>MXFP8 的 scale 在当前 block 内即时计算，不再走 DelayedScaling 那种全局 amax history 更新路径。因此它减少了 delayed scaling 式的状态管理，也通常不需要那类跨 rank amax 同步。</a:t>
            </a:r>
          </a:p>
          <a:p/>
          <a:p>
            <a:r>
              <a:t>但约束没有消失，而是换了形态：需要 rowwise/columnwise 表示，需要 kernel 同时理解 data 和 block scale，需要 shape 和 shard 边界满足 32 对齐。也就是说，MXFP8 是把一部分状态成本换成更复杂的表示和执行约束。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从用户代码看，TE 的入口很简单：替换模块，选择 recipe，然后在 autocast 范围内调用模块。loss、backward、optimizer step 这些训练流程仍然保持原来的高层语义。</a:t>
            </a:r>
          </a:p>
          <a:p/>
          <a:p>
            <a:r>
              <a:t>但这里的 autocast 不是把后续所有 op 自动变成 FP8。真正发生低精执行的是 TE 模块内部：它创建状态和 quantizer，决定哪些 tensor 要量化，调度低精 GEMM，维护缓存，并在合适时机更新 scale 或 amax。</a:t>
            </a:r>
          </a:p>
          <a:p/>
          <a:p>
            <a:r>
              <a:t>所以从这一页开始，视角从“FP8 表示是什么”切到“框架怎么组织这套表示”。TE 的价值就在于把这些动作封装成模块级低精运行时。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 的核心抽象可以按这条链理解：recipe、recipe state、quantizer、quantized tensor，然后进入 GEMM kernel。</a:t>
            </a:r>
          </a:p>
          <a:p/>
          <a:p>
            <a:r>
              <a:t>recipe 定义 scaling 策略和 FP8 格式；recipe state 持有运行时状态，比如 scale 和 amax history；quantizer 负责把高精 tensor 转成量化表示，并根据 usage 生成需要的方向；quantized tensor 保存已经生成的 FP8 data、scale，以及按 rowwise/columnwise 方向生成的量化表示；最后 general_gemm 把这组表示交给底层 kernel。</a:t>
            </a:r>
          </a:p>
          <a:p/>
          <a:p>
            <a:r>
              <a:t>按执行顺序看，用户代码只看到模块、recipe 和 autocast。进入 TE module 后，runtime 读取 recipe state，用 quantizer 生成 quantized tensor；GEMM kernel 消费这组量化表示；输出回到高精语义，同时记录 amax、更新 scale，并保留 backward 可能复用的缓存。</a:t>
            </a:r>
          </a:p>
          <a:p/>
          <a:p>
            <a:r>
              <a:t>这一页的 takeaway 是：TE 不是只提供一个 FP8 dtype，而是把 recipe、量化、GEMM、状态更新和缓存组织成一个模块级闭环。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上一页是通用抽象，这页把它落到 Linear。Linear 有三条 GEMM：forward、dgrad、wgrad。runtime 要回答四个具体问题：哪些 tensor 要量化，要生成 rowwise 还是 columnwise 表示，每条 GEMM 消费哪两套表示，forward 阶段生成的量化结果能不能在 backward 复用。</a:t>
            </a:r>
          </a:p>
          <a:p/>
          <a:p>
            <a:r>
              <a:t>从图上看，forward 阶段对 X/W 做量化，生成后续可能需要的方向表示，并把部分结果放进 cache。backward 阶段进来的是 dY，它也要按 dgrad 和 wgrad 的需求生成对应表示，同时尽量复用 forward cache 里的 X/W 表示。</a:t>
            </a:r>
          </a:p>
          <a:p/>
          <a:p>
            <a:r>
              <a:t>对 MXFP8 来说，方向表示选择尤其关键：forward 消费 X rowwise 和 W rowwise；dgrad 需要 W columnwise 和 dY rowwise；wgrad 需要 X columnwise 和 dY columnwise。</a:t>
            </a:r>
          </a:p>
          <a:p/>
          <a:p>
            <a:r>
              <a:t>如果 forward 阶段已经准备好 backward 需要的方向表示，backward 就可以少做一次量化；如果没有准备，就要重新生成。TE runtime 管理 quantizer、方向表示和 cache，本质上是为了让三条 GEMM 都拿到正确的 data + scale，并尽量降低重复量化成本。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这一页讲通信边界，避免把 MXFP8 讲成“全链路低精通信”。</a:t>
            </a:r>
          </a:p>
          <a:p/>
          <a:p>
            <a:r>
              <a:t>普通 FP8 在分布式场景下可能要同步 amax 或 scale。判断标准不是“有没有通信”，而是多个 rank 的分片后面是否会作为同一个逻辑 tensor 进入低精 kernel。</a:t>
            </a:r>
          </a:p>
          <a:p/>
          <a:p>
            <a:r>
              <a:t>MXFP8 因为 block scale 是本地即时计算，没有 DelayedScaling 那类全局 amax 同步。但训练并行里的数据交换仍然存在。低精通信主要集中在 all-gather 类路径，传的是 data + scale；GEMM 后的 reduce-scatter 或 all-reduce 通常处理的是高精输出。</a:t>
            </a:r>
          </a:p>
          <a:p/>
          <a:p>
            <a:r>
              <a:t>所以要区分两件事：MXFP8 少了一类 amax 同步，不代表训练里没有通信；部分 all-gather 可以低精，不代表所有通信都是低精。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从这一页进入 MindSpeed/NPU 实现。先看整体接管策略：MindSpeed 保留 TE 的 import 路径和接口约定，这样 Megatron-Core 仍然可以按 TE 的方式接入；但真正进入这些入口以后，执行路径已经换成 MindSpeed Python runtime 和 torch_npu / CANN 算子。</a:t>
            </a:r>
          </a:p>
          <a:p/>
          <a:p>
            <a:r>
              <a:t>图里上面是 TE 原生路径：用户代码进入 TE Python，再到 C++ binding 和 CUDA/cuBLAS。下面是 MindSpeed/NPU 路径：用户代码仍然走 TE 风格入口，但会被 patch 到 MindSpeed Python，再调用 torch_npu，最后落到 CANN/NPU。</a:t>
            </a:r>
          </a:p>
          <a:p/>
          <a:p>
            <a:r>
              <a:t>所以这一页的结论很直接：TE import path 在这里是接口兼容层，不代表底层还在调用 TE CUDA kernel。实际执行量化、GEMM 和通算融合的是 NPU 侧运行时。这个差异会影响后面的抽象设计：TE 有独立的 RecipeState 和 Quantizer，MindSpeed 会把很多职责压到 recipe 和 torch_npu 算子契约里。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这一页把抽象重写讲具体。TE 原生链路里，recipe 会生成 RecipeState，再生成 MXFP8Quantizer。Quantizer 通过 usage 管理 rowwise 和 columnwise，量化后得到 MXFP8Tensor，最后交给 general_gemm 和底层 CUDA/cuBLAS 路径。</a:t>
            </a:r>
          </a:p>
          <a:p/>
          <a:p>
            <a:r>
              <a:t>MindSpeed/NPU 没有把这套抽象原样搬过来。它把独立 Quantizer 这一层压掉了，`MXFP8ScalingRecipe.quantization()` 直接接收 `colwise` 和 `rowwise` 参数，然后调用 `npu_dynamic_mx_quant` 或 `npu_dynamic_mx_quant_with_dual_axis`。</a:t>
            </a:r>
          </a:p>
          <a:p/>
          <a:p>
            <a:r>
              <a:rPr lang="zh-CN"/>
              <a:t>这里</a:t>
            </a:r>
            <a:r>
              <a:t>重要的是职责迁移：TE 里由 RecipeState、Quantizer、MXFP8Tensor 和 CUDA kernel 分层承担的工作，在 MindSpeed 里更多变成 recipe 直接驱动 torch_npu 算子，tensor 保存算子产物，GEMM 再按算子契约消费这些产物。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这一页把抽象重写落到 tensor 表示上。TE 原生的 MXFP8Tensor 更像一个带 runtime 语义的对象：它保存 rowwise 和 columnwise 的 data / scale_inv，也保留 quantizer 关联，Python runtime 会显式处理部分 usage 和 padding 语义。</a:t>
            </a:r>
          </a:p>
          <a:p/>
          <a:p>
            <a:r>
              <a:t>MindSpeed/NPU 这边更像轻量容器。`Float8Tensor2D` 保存 `row_tensor` 和 `col_tensor`，每个方向都是 NPU 量化算子产出的 data + scale。padding、双轴量化、部分 layout 约束更多交给 torch_npu / CANN 的算子契约。</a:t>
            </a:r>
          </a:p>
          <a:p/>
          <a:p>
            <a:r>
              <a:t>后续 GEMM 不重新推导 scale，而是按 row/col 方向取出对应 data 和 scale，传入 `npu_quant_matmul`。所以这里的关键是职责边界：tensor 不再承载 Quantizer 语义，主要保存 NPU 量化算子已经生成好的 row/col 表示。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在 MindSpeed 路径里，torch_npu 算子承接量化和 GEMM 的底层执行能力。这里先只讲量化和 GEMM，通算融合放到下一页单独讲。</a:t>
            </a:r>
          </a:p>
          <a:p/>
          <a:p>
            <a:r>
              <a:t>量化侧有两种入口：只需要一个方向时，用 `npu_dynamic_mx_quant(axis=-1/-2)`；同时需要 rowwise 和 columnwise 时，用 `npu_dynamic_mx_quant_with_dual_axis`，一次产出两套 data + scale。</a:t>
            </a:r>
          </a:p>
          <a:p/>
          <a:p>
            <a:r>
              <a:t>GEMM 侧，`npu_quant_matmul` 消费两侧的 FP8 data 和 E8M0 scale，并通过 `group_sizes=[1,1,32]` 对齐 MXFP8 的 32 元素 block 语义。输出通常仍然是 BF16 等高精 dtype。</a:t>
            </a:r>
          </a:p>
          <a:p/>
          <a:p>
            <a:r>
              <a:t>`npu_add_quant_matmul_` 用于 GEMM 后原地累加到高精 main_grad。这里要明确边界：FP8/MXFP8 主要作用在 GEMM 输入侧，累加和输出语义通常仍然保持高精，不是把梯度累加也变成 FP8。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MindSpeed 里通信可以先分成两类路径。默认路径是通信和计算分离：先做高精 all-gather，再量化，再 FP8 GEMM；GEMM 后的 reduce-scatter 也通常处理高精输出。</a:t>
            </a:r>
          </a:p>
          <a:p/>
          <a:p>
            <a:r>
              <a:t>MC2 路径会把通信和计算融合起来，也就是这里说的通算融合。all-gather 侧可以直接通信 MXFP8 data 和 scale，并和 quant matmul 融合；matmul + reduce-scatter 也可以做融合。</a:t>
            </a:r>
          </a:p>
          <a:p/>
          <a:p>
            <a:r>
              <a:t>这里的边界要讲清楚：低精通信主要出现在 all-gather 侧；reduce-scatter 侧通常处理的是 GEMM 的高精输出。也就是说，MC2 是性能优化路径，不应把它理解成 MXFP8 对通信有额外语义依赖。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最后回到落地边界。算法侧要关注稳定性、loss 曲线、格式选择，以及哪些层适合 FP8/MXFP8。MXFP8 改善的是表示粒度，不等于所有模型和所有层都天然稳定。</a:t>
            </a:r>
          </a:p>
          <a:p/>
          <a:p>
            <a:r>
              <a:t>框架侧要关注 shape 是否满足 32 对齐，rowwise/columnwise 缓存生命周期是否正确，通信路径到底传高精 tensor 还是 data + scale，以及 fallback 语义是否清楚。</a:t>
            </a:r>
          </a:p>
          <a:p/>
          <a:p>
            <a:r>
              <a:t>收益侧要看具体模型、硬件、并行策略和 kernel 覆盖范围。公开结果说明这个方向能产生端到端收益，但不能直接外推到所有场景。最终还是要把收益和这些额外成本放在同一条执行链里评估。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最后用三句话收束。</a:t>
            </a:r>
          </a:p>
          <a:p/>
          <a:p>
            <a:r>
              <a:t>第一，FP8 不是全局 dtype 切换，而是模块内的低精运行时。第二，MXFP8 的核心是 32 元素 microscaling，把 scale 从 tensor 级细化到 block 级。第三，工程实现的关键不是单个 cast，而是把量化、scale、GEMM、缓存复用和通信组织成稳定闭环。</a:t>
            </a:r>
          </a:p>
          <a:p/>
          <a:p>
            <a:r>
              <a:t>后续判断一个 FP8/MXFP8 方案时，可以沿着同一条执行链看：scale 从哪里来，覆盖哪些数据，被哪个 GEMM kernel 消费，通信和缓存如何配合。只要这条链闭合，才有可能把低精格式转化成稳定的训练收益。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如果被问到这些问题，可以统一沿着执行链回答，重点是把边界讲清楚。</a:t>
            </a:r>
          </a:p>
          <a:p/>
          <a:p>
            <a:r>
              <a:t>FP8/MXFP8 主要是 GEMM 输入侧低精，累加和输出通常还是高精。MXFP8 不需要 DelayedScaling 那类全局 amax 同步，但训练并行里的数据交换仍然存在。低精通信主要集中在 all-gather 类路径，reduce-scatter 或 all-reduce 多数处理高精输出。</a:t>
            </a:r>
          </a:p>
          <a:p/>
          <a:p>
            <a:r>
              <a:t>rowwise 和 columnwise 对应不同方向的 32 元素 block scale 分组，简单 transpose 无法保持 data 和 scale 的正确配对。MindSpeed 不依赖 TE CUDA 后端，它复用的是 TE import 路径和接口约定，底层量化、GEMM 和通算融合由 torch_npu / CANN 承接。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819150"/>
            <a:ext cx="100012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4200" b="0">
                <a:solidFill>
                  <a:srgbClr val="000000"/>
                </a:solidFill>
              </a:defRPr>
            </a:pPr>
            <a:r>
              <a:rPr sz="4200" b="0">
                <a:solidFill>
                  <a:srgbClr val="000000"/>
                </a:solidFill>
              </a:rPr>
              <a:t>从 BF16 混合精度到 MXFP8</a:t>
            </a:r>
            <a:endParaRPr sz="4200" b="0">
              <a:solidFill>
                <a:srgbClr val="000000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2095500"/>
            <a:ext cx="8191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低精度训练的 scale 机制与 TE / MindSpeed 实现</a:t>
            </a:r>
            <a:endParaRPr sz="1800" b="0">
              <a:solidFill>
                <a:srgbClr val="555555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4095750"/>
            <a:ext cx="2095500" cy="6286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00100" y="4229100"/>
            <a:ext cx="18288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BF16 mixed precision</a:t>
            </a:r>
            <a:endParaRPr sz="1350" b="0">
              <a:solidFill>
                <a:srgbClr val="000000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2857500" y="4400550"/>
            <a:ext cx="190500" cy="19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7" name="等腰三角形 6"/>
          <p:cNvSpPr>
            <a:spLocks noGrp="1"/>
          </p:cNvSpPr>
          <p:nvPr/>
        </p:nvSpPr>
        <p:spPr>
          <a:xfrm rot="5400000">
            <a:off x="2981325" y="4343400"/>
            <a:ext cx="133350" cy="133350"/>
          </a:xfrm>
          <a:prstGeom prst="triangle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3048000" y="4095750"/>
            <a:ext cx="1809750" cy="6286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181350" y="4229100"/>
            <a:ext cx="1543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FP8 + scale</a:t>
            </a:r>
            <a:endParaRPr sz="1350" b="0">
              <a:solidFill>
                <a:srgbClr val="000000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953000" y="4400550"/>
            <a:ext cx="190500" cy="19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1" name="等腰三角形 10"/>
          <p:cNvSpPr>
            <a:spLocks noGrp="1"/>
          </p:cNvSpPr>
          <p:nvPr/>
        </p:nvSpPr>
        <p:spPr>
          <a:xfrm rot="5400000">
            <a:off x="5076825" y="4343400"/>
            <a:ext cx="133350" cy="133350"/>
          </a:xfrm>
          <a:prstGeom prst="triangle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143500" y="4095750"/>
            <a:ext cx="1809750" cy="62865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5276850" y="4229100"/>
            <a:ext cx="1543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MXFP8 block scale</a:t>
            </a:r>
            <a:endParaRPr sz="1350" b="0">
              <a:solidFill>
                <a:srgbClr val="000000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048500" y="4400550"/>
            <a:ext cx="190500" cy="19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5" name="等腰三角形 14"/>
          <p:cNvSpPr>
            <a:spLocks noGrp="1"/>
          </p:cNvSpPr>
          <p:nvPr/>
        </p:nvSpPr>
        <p:spPr>
          <a:xfrm rot="5400000">
            <a:off x="7172325" y="4343400"/>
            <a:ext cx="133350" cy="133350"/>
          </a:xfrm>
          <a:prstGeom prst="triangle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239000" y="4095750"/>
            <a:ext cx="1809750" cy="6286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372350" y="4229100"/>
            <a:ext cx="1543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TE runtime</a:t>
            </a:r>
            <a:endParaRPr sz="1350" b="0">
              <a:solidFill>
                <a:srgbClr val="000000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144000" y="4400550"/>
            <a:ext cx="190500" cy="19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9" name="等腰三角形 18"/>
          <p:cNvSpPr>
            <a:spLocks noGrp="1"/>
          </p:cNvSpPr>
          <p:nvPr/>
        </p:nvSpPr>
        <p:spPr>
          <a:xfrm rot="5400000">
            <a:off x="9267825" y="4343400"/>
            <a:ext cx="133350" cy="133350"/>
          </a:xfrm>
          <a:prstGeom prst="triangle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334500" y="4095750"/>
            <a:ext cx="1809750" cy="6286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467850" y="4229100"/>
            <a:ext cx="1543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MindSpeed / NPU</a:t>
            </a:r>
            <a:endParaRPr sz="1350" b="0">
              <a:solidFill>
                <a:srgbClr val="000000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47700" y="3124200"/>
            <a:ext cx="3238500" cy="1905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400050" y="6191250"/>
            <a:ext cx="113919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400050" y="63055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MXFP8 Talk</a:t>
            </a:r>
            <a:endParaRPr sz="975" b="1">
              <a:solidFill>
                <a:srgbClr val="555555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1239500" y="63055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1</a:t>
            </a:r>
            <a:endParaRPr sz="975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2385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Context</a:t>
            </a:r>
            <a:endParaRPr sz="975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925" b="0">
                <a:solidFill>
                  <a:srgbClr val="000000"/>
                </a:solidFill>
              </a:defRPr>
            </a:pPr>
            <a:r>
              <a:rPr sz="2925" b="0">
                <a:solidFill>
                  <a:srgbClr val="000000"/>
                </a:solidFill>
              </a:rPr>
              <a:t>开场：这不是新的 dtype，而是一套低精运行时</a:t>
            </a:r>
            <a:endParaRPr sz="2925" b="0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1200150"/>
            <a:ext cx="2286000" cy="19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1809750"/>
            <a:ext cx="3143250" cy="10477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19150" y="1943100"/>
            <a:ext cx="28765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0">
                <a:solidFill>
                  <a:srgbClr val="000000"/>
                </a:solidFill>
              </a:defRPr>
            </a:pPr>
            <a:r>
              <a:rPr sz="2100" b="0">
                <a:solidFill>
                  <a:srgbClr val="000000"/>
                </a:solidFill>
              </a:rPr>
              <a:t>model.to(FP8)</a:t>
            </a:r>
            <a:endParaRPr sz="2100" b="0">
              <a:solidFill>
                <a:srgbClr val="000000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42950" y="3095625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不是全局 dtype 切换</a:t>
            </a:r>
            <a:endParaRPr sz="1500" b="0">
              <a:solidFill>
                <a:srgbClr val="555555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000250" y="1733550"/>
            <a:ext cx="571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5100" b="1">
                <a:solidFill>
                  <a:srgbClr val="FF6B35"/>
                </a:solidFill>
              </a:defRPr>
            </a:pPr>
            <a:r>
              <a:rPr sz="5100" b="1">
                <a:solidFill>
                  <a:srgbClr val="FF6B35"/>
                </a:solidFill>
              </a:rPr>
              <a:t>×</a:t>
            </a:r>
            <a:endParaRPr sz="5100" b="1">
              <a:solidFill>
                <a:srgbClr val="FF6B35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953000" y="1905000"/>
            <a:ext cx="1428750" cy="7810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5086350" y="2038350"/>
            <a:ext cx="11620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高精 tensor</a:t>
            </a:r>
            <a:endParaRPr sz="1425" b="0">
              <a:solidFill>
                <a:srgbClr val="000000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953250" y="1905000"/>
            <a:ext cx="1428750" cy="78105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086600" y="2038350"/>
            <a:ext cx="11620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量化表示</a:t>
            </a:r>
            <a:endParaRPr sz="1425" b="0">
              <a:solidFill>
                <a:srgbClr val="000000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810625" y="1905000"/>
            <a:ext cx="1428750" cy="7810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943975" y="2038350"/>
            <a:ext cx="11620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低精 GEMM</a:t>
            </a:r>
            <a:endParaRPr sz="1425" b="0">
              <a:solidFill>
                <a:srgbClr val="000000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0477500" y="1905000"/>
            <a:ext cx="1428750" cy="7810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0610850" y="2038350"/>
            <a:ext cx="11620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高精输出</a:t>
            </a:r>
            <a:endParaRPr sz="1425" b="0">
              <a:solidFill>
                <a:srgbClr val="000000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429375" y="2286000"/>
            <a:ext cx="447675" cy="19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8" name="等腰三角形 17"/>
          <p:cNvSpPr>
            <a:spLocks noGrp="1"/>
          </p:cNvSpPr>
          <p:nvPr/>
        </p:nvSpPr>
        <p:spPr>
          <a:xfrm rot="5400000">
            <a:off x="6810375" y="2228850"/>
            <a:ext cx="133350" cy="133350"/>
          </a:xfrm>
          <a:prstGeom prst="triangle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429625" y="2286000"/>
            <a:ext cx="304800" cy="19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20" name="等腰三角形 19"/>
          <p:cNvSpPr>
            <a:spLocks noGrp="1"/>
          </p:cNvSpPr>
          <p:nvPr/>
        </p:nvSpPr>
        <p:spPr>
          <a:xfrm rot="5400000">
            <a:off x="8667750" y="2228850"/>
            <a:ext cx="133350" cy="133350"/>
          </a:xfrm>
          <a:prstGeom prst="triangle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287000" y="2286000"/>
            <a:ext cx="114300" cy="19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22" name="等腰三角形 21"/>
          <p:cNvSpPr>
            <a:spLocks noGrp="1"/>
          </p:cNvSpPr>
          <p:nvPr/>
        </p:nvSpPr>
        <p:spPr>
          <a:xfrm rot="5400000">
            <a:off x="10334625" y="2228850"/>
            <a:ext cx="133350" cy="133350"/>
          </a:xfrm>
          <a:prstGeom prst="triangle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4953000" y="3257550"/>
            <a:ext cx="6286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不是所有 tensor 长期以 FP8 存储</a:t>
            </a:r>
            <a:endParaRPr sz="1725" b="0">
              <a:solidFill>
                <a:srgbClr val="222222"/>
              </a:solidFill>
            </a:endParaRPr>
          </a:p>
          <a:p>
            <a:pPr algn="l"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不是 loss、optimizer、所有非 GEMM 算子都变成 FP8</a:t>
            </a:r>
            <a:endParaRPr sz="1725" b="0">
              <a:solidFill>
                <a:srgbClr val="222222"/>
              </a:solidFill>
            </a:endParaRPr>
          </a:p>
          <a:p>
            <a:pPr algn="l"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重点是在模块内部管理量化数据和 scale 的生命周期</a:t>
            </a:r>
            <a:endParaRPr sz="1725" b="0">
              <a:solidFill>
                <a:srgbClr val="222222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85800" y="4762500"/>
            <a:ext cx="10572750" cy="8763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876300" y="4914900"/>
            <a:ext cx="10191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222222"/>
                </a:solidFill>
              </a:defRPr>
            </a:pPr>
            <a:r>
              <a:rPr sz="1575" b="0">
                <a:solidFill>
                  <a:srgbClr val="222222"/>
                </a:solidFill>
              </a:rPr>
              <a:t>量化数据 + scale + 低精 GEMM + 缓存复用 + 通信边界</a:t>
            </a:r>
            <a:endParaRPr sz="1575" b="0">
              <a:solidFill>
                <a:srgbClr val="222222"/>
              </a:solidFill>
            </a:endParaRPr>
          </a:p>
          <a:p>
            <a:pPr algn="l">
              <a:defRPr sz="1575" b="0">
                <a:solidFill>
                  <a:srgbClr val="222222"/>
                </a:solidFill>
              </a:defRPr>
            </a:pPr>
            <a:r>
              <a:rPr sz="1575" b="0">
                <a:solidFill>
                  <a:srgbClr val="222222"/>
                </a:solidFill>
              </a:rPr>
              <a:t>=&gt; 可训练的低精执行闭环</a:t>
            </a:r>
            <a:endParaRPr sz="1575" b="0">
              <a:solidFill>
                <a:srgbClr val="222222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400050" y="6191250"/>
            <a:ext cx="113919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400050" y="63055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MXFP8</a:t>
            </a:r>
            <a:endParaRPr sz="975" b="1">
              <a:solidFill>
                <a:srgbClr val="555555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1239500" y="63055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2</a:t>
            </a:r>
            <a:endParaRPr sz="975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2385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Context</a:t>
            </a:r>
            <a:endParaRPr sz="975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925" b="0">
                <a:solidFill>
                  <a:srgbClr val="000000"/>
                </a:solidFill>
              </a:defRPr>
            </a:pPr>
            <a:r>
              <a:rPr sz="2925" b="0">
                <a:solidFill>
                  <a:srgbClr val="000000"/>
                </a:solidFill>
              </a:rPr>
              <a:t>为什么值得关注：收益来自核心 GEMM 主路径</a:t>
            </a:r>
            <a:endParaRPr sz="2925" b="0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1200150"/>
            <a:ext cx="2286000" cy="19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19150" y="1666875"/>
            <a:ext cx="2381250" cy="5715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52500" y="1800225"/>
            <a:ext cx="2114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forward</a:t>
            </a:r>
            <a:endParaRPr sz="1800" b="0">
              <a:solidFill>
                <a:srgbClr val="000000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19150" y="2381250"/>
            <a:ext cx="2381250" cy="6667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009650" y="2533650"/>
            <a:ext cx="200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y = x @ w^T</a:t>
            </a:r>
            <a:endParaRPr sz="1650" b="0">
              <a:solidFill>
                <a:srgbClr val="222222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391025" y="1666875"/>
            <a:ext cx="2381250" cy="5715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524375" y="1800225"/>
            <a:ext cx="2114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dgrad</a:t>
            </a:r>
            <a:endParaRPr sz="1800" b="0">
              <a:solidFill>
                <a:srgbClr val="000000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391025" y="2381250"/>
            <a:ext cx="2381250" cy="6667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581525" y="2533650"/>
            <a:ext cx="200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dx = dy @ w</a:t>
            </a:r>
            <a:endParaRPr sz="1650" b="0">
              <a:solidFill>
                <a:srgbClr val="222222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962900" y="1666875"/>
            <a:ext cx="2381250" cy="5715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096250" y="1800225"/>
            <a:ext cx="2114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wgrad</a:t>
            </a:r>
            <a:endParaRPr sz="1800" b="0">
              <a:solidFill>
                <a:srgbClr val="000000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962900" y="2381250"/>
            <a:ext cx="2381250" cy="6667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153400" y="2533650"/>
            <a:ext cx="200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dw = dy^T @ x</a:t>
            </a:r>
            <a:endParaRPr sz="1650" b="0">
              <a:solidFill>
                <a:srgbClr val="222222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19150" y="352425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主收益</a:t>
            </a:r>
            <a:endParaRPr sz="1800" b="1">
              <a:solidFill>
                <a:srgbClr val="000000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47750" y="4000500"/>
            <a:ext cx="4762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低精 GEMM 吞吐更高</a:t>
            </a:r>
            <a:endParaRPr sz="1725" b="0">
              <a:solidFill>
                <a:srgbClr val="222222"/>
              </a:solidFill>
            </a:endParaRPr>
          </a:p>
          <a:p>
            <a:pPr algn="l"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activation / weight / gradient 位宽更低</a:t>
            </a:r>
            <a:endParaRPr sz="1725" b="0">
              <a:solidFill>
                <a:srgbClr val="222222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572250" y="352425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端到端收益</a:t>
            </a:r>
            <a:endParaRPr sz="1800" b="1">
              <a:solidFill>
                <a:srgbClr val="000000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572250" y="4000500"/>
            <a:ext cx="4333875" cy="904875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762750" y="4152900"/>
            <a:ext cx="3952875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222222"/>
                </a:solidFill>
              </a:defRPr>
            </a:pPr>
            <a:r>
              <a:rPr sz="1575" b="0">
                <a:solidFill>
                  <a:srgbClr val="222222"/>
                </a:solidFill>
              </a:rPr>
              <a:t>低精 GEMM 和带宽收益</a:t>
            </a:r>
            <a:endParaRPr sz="1575" b="0">
              <a:solidFill>
                <a:srgbClr val="222222"/>
              </a:solidFill>
            </a:endParaRPr>
          </a:p>
          <a:p>
            <a:pPr algn="l">
              <a:defRPr sz="1575" b="0">
                <a:solidFill>
                  <a:srgbClr val="222222"/>
                </a:solidFill>
              </a:defRPr>
            </a:pPr>
            <a:r>
              <a:rPr sz="1575" b="0">
                <a:solidFill>
                  <a:srgbClr val="222222"/>
                </a:solidFill>
              </a:rPr>
              <a:t>- 量化 / scale / 缓存 / 通信开销</a:t>
            </a:r>
            <a:endParaRPr sz="1575" b="0">
              <a:solidFill>
                <a:srgbClr val="222222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00050" y="6191250"/>
            <a:ext cx="113919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400050" y="63055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MXFP8</a:t>
            </a:r>
            <a:endParaRPr sz="975" b="1">
              <a:solidFill>
                <a:srgbClr val="555555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1239500" y="63055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3</a:t>
            </a:r>
            <a:endParaRPr sz="975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2385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Context</a:t>
            </a:r>
            <a:endParaRPr sz="975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925" b="0">
                <a:solidFill>
                  <a:srgbClr val="000000"/>
                </a:solidFill>
              </a:defRPr>
            </a:pPr>
            <a:r>
              <a:rPr sz="2925" b="0">
                <a:solidFill>
                  <a:srgbClr val="000000"/>
                </a:solidFill>
              </a:rPr>
              <a:t>公开结果显示 1.2x-1.3x 量级收益</a:t>
            </a:r>
            <a:endParaRPr sz="2925" b="0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1200150"/>
            <a:ext cx="2286000" cy="19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57250" y="1714500"/>
            <a:ext cx="7953375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57250" y="1352550"/>
            <a:ext cx="7953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Training speedup vs BF16</a:t>
            </a:r>
            <a:endParaRPr sz="1650" b="1">
              <a:solidFill>
                <a:srgbClr val="000000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57250" y="5143500"/>
            <a:ext cx="7953375" cy="19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342900" y="50387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1.00x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57250" y="4653643"/>
            <a:ext cx="7953375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42900" y="4548868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1.05x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57250" y="4163786"/>
            <a:ext cx="7953375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42900" y="4059011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1.10x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57250" y="3673929"/>
            <a:ext cx="7953375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342900" y="3569154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1.15x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57250" y="3184071"/>
            <a:ext cx="7953375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42900" y="3079296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1.20x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57250" y="2694214"/>
            <a:ext cx="7953375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342900" y="2589439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1.25x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57250" y="2204357"/>
            <a:ext cx="7953375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342900" y="2099582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1.30x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389289" y="3184071"/>
            <a:ext cx="704850" cy="1959429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313089" y="2936421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1">
                <a:solidFill>
                  <a:srgbClr val="000000"/>
                </a:solidFill>
              </a:defRPr>
            </a:pPr>
            <a:r>
              <a:rPr sz="1050" b="1">
                <a:solidFill>
                  <a:srgbClr val="000000"/>
                </a:solidFill>
              </a:rPr>
              <a:t>1.20x</a:t>
            </a:r>
            <a:endParaRPr sz="1050" b="1">
              <a:solidFill>
                <a:srgbClr val="000000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084489" y="5276850"/>
            <a:ext cx="1314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Float8 exp</a:t>
            </a:r>
            <a:endParaRPr sz="975" b="0">
              <a:solidFill>
                <a:srgbClr val="555555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2626179" y="3184071"/>
            <a:ext cx="704850" cy="1959429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2549979" y="2936421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1">
                <a:solidFill>
                  <a:srgbClr val="000000"/>
                </a:solidFill>
              </a:defRPr>
            </a:pPr>
            <a:r>
              <a:rPr sz="1050" b="1">
                <a:solidFill>
                  <a:srgbClr val="000000"/>
                </a:solidFill>
              </a:rPr>
              <a:t>1.20x</a:t>
            </a:r>
            <a:endParaRPr sz="1050" b="1">
              <a:solidFill>
                <a:srgbClr val="000000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2321379" y="5276850"/>
            <a:ext cx="1314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LLaMA13B</a:t>
            </a:r>
            <a:endParaRPr sz="975" b="0">
              <a:solidFill>
                <a:srgbClr val="555555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3863068" y="2988129"/>
            <a:ext cx="704850" cy="2155371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3786868" y="2740479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1">
                <a:solidFill>
                  <a:srgbClr val="000000"/>
                </a:solidFill>
              </a:defRPr>
            </a:pPr>
            <a:r>
              <a:rPr sz="1050" b="1">
                <a:solidFill>
                  <a:srgbClr val="000000"/>
                </a:solidFill>
              </a:rPr>
              <a:t>1.22x</a:t>
            </a:r>
            <a:endParaRPr sz="1050" b="1">
              <a:solidFill>
                <a:srgbClr val="000000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558268" y="5276850"/>
            <a:ext cx="1314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LLaMA7B</a:t>
            </a:r>
            <a:endParaRPr sz="975" b="0">
              <a:solidFill>
                <a:srgbClr val="555555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099957" y="2988129"/>
            <a:ext cx="704850" cy="2155371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5023757" y="2740479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1">
                <a:solidFill>
                  <a:srgbClr val="000000"/>
                </a:solidFill>
              </a:defRPr>
            </a:pPr>
            <a:r>
              <a:rPr sz="1050" b="1">
                <a:solidFill>
                  <a:srgbClr val="000000"/>
                </a:solidFill>
              </a:rPr>
              <a:t>1.22x</a:t>
            </a:r>
            <a:endParaRPr sz="1050" b="1">
              <a:solidFill>
                <a:srgbClr val="000000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4795157" y="5276850"/>
            <a:ext cx="1314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Crusoe min</a:t>
            </a:r>
            <a:endParaRPr sz="975" b="0">
              <a:solidFill>
                <a:srgbClr val="555555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336846" y="2400300"/>
            <a:ext cx="704850" cy="274320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6260646" y="2152650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1">
                <a:solidFill>
                  <a:srgbClr val="000000"/>
                </a:solidFill>
              </a:defRPr>
            </a:pPr>
            <a:r>
              <a:rPr sz="1050" b="1">
                <a:solidFill>
                  <a:srgbClr val="000000"/>
                </a:solidFill>
              </a:rPr>
              <a:t>1.28x</a:t>
            </a:r>
            <a:endParaRPr sz="1050" b="1">
              <a:solidFill>
                <a:srgbClr val="000000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032046" y="5276850"/>
            <a:ext cx="1314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Crusoe max</a:t>
            </a:r>
            <a:endParaRPr sz="975" b="0">
              <a:solidFill>
                <a:srgbClr val="555555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7573736" y="2184763"/>
            <a:ext cx="704850" cy="2958737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7497536" y="1937113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1">
                <a:solidFill>
                  <a:srgbClr val="000000"/>
                </a:solidFill>
              </a:defRPr>
            </a:pPr>
            <a:r>
              <a:rPr sz="1050" b="1">
                <a:solidFill>
                  <a:srgbClr val="000000"/>
                </a:solidFill>
              </a:rPr>
              <a:t>1.302x</a:t>
            </a:r>
            <a:endParaRPr sz="1050" b="1">
              <a:solidFill>
                <a:srgbClr val="000000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7268936" y="5276850"/>
            <a:ext cx="1314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Llama4 Scout</a:t>
            </a:r>
            <a:endParaRPr sz="975" b="0">
              <a:solidFill>
                <a:srgbClr val="555555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9239250" y="1952625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量级预期</a:t>
            </a:r>
            <a:endParaRPr sz="1800" b="1">
              <a:solidFill>
                <a:srgbClr val="000000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9239250" y="2362200"/>
            <a:ext cx="1809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1.2x-1.3x</a:t>
            </a:r>
            <a:endParaRPr sz="2250" b="1">
              <a:solidFill>
                <a:srgbClr val="FF6B35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9239250" y="3000375"/>
            <a:ext cx="2000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生态侧公开结果，不是 TE 官方 benchmark。硬件、模型、并行策略不同，不能直接外推。</a:t>
            </a:r>
            <a:endParaRPr sz="1500" b="0">
              <a:solidFill>
                <a:srgbClr val="222222"/>
              </a:solidFill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400050" y="6191250"/>
            <a:ext cx="113919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400050" y="63055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MXFP8</a:t>
            </a:r>
            <a:endParaRPr sz="975" b="1">
              <a:solidFill>
                <a:srgbClr val="555555"/>
              </a:solidFill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11239500" y="63055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4</a:t>
            </a:r>
            <a:endParaRPr sz="975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2385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BF16 -&gt; FP8</a:t>
            </a:r>
            <a:endParaRPr sz="975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925" b="0">
                <a:solidFill>
                  <a:srgbClr val="000000"/>
                </a:solidFill>
              </a:defRPr>
            </a:pPr>
            <a:r>
              <a:rPr sz="2925" b="0">
                <a:solidFill>
                  <a:srgbClr val="000000"/>
                </a:solidFill>
              </a:rPr>
              <a:t>FP8 表示范围更紧，因此必须引入 scale</a:t>
            </a:r>
            <a:endParaRPr sz="2925" b="0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1200150"/>
            <a:ext cx="2286000" cy="19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66750" y="1476375"/>
            <a:ext cx="838200" cy="5334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62000" y="1552575"/>
            <a:ext cx="647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</a:rPr>
              <a:t>格式</a:t>
            </a:r>
            <a:endParaRPr sz="1275" b="1">
              <a:solidFill>
                <a:srgbClr val="222222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504950" y="1476375"/>
            <a:ext cx="2933700" cy="5334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600200" y="1552575"/>
            <a:ext cx="2743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</a:rPr>
              <a:t>近似可表示范围</a:t>
            </a:r>
            <a:endParaRPr sz="1275" b="1">
              <a:solidFill>
                <a:srgbClr val="222222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438650" y="1476375"/>
            <a:ext cx="2305050" cy="5334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533900" y="1552575"/>
            <a:ext cx="2114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</a:rPr>
              <a:t>关键含义</a:t>
            </a:r>
            <a:endParaRPr sz="1275" b="1">
              <a:solidFill>
                <a:srgbClr val="222222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66750" y="2009775"/>
            <a:ext cx="8382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62000" y="2085975"/>
            <a:ext cx="647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BF16</a:t>
            </a:r>
            <a:endParaRPr sz="1125" b="0">
              <a:solidFill>
                <a:srgbClr val="222222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504950" y="2009775"/>
            <a:ext cx="29337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600200" y="2085975"/>
            <a:ext cx="2743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最大有限值约 3.39e38</a:t>
            </a:r>
            <a:endParaRPr sz="1125" b="0">
              <a:solidFill>
                <a:srgbClr val="222222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438650" y="2009775"/>
            <a:ext cx="23050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533900" y="2085975"/>
            <a:ext cx="2114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动态范围接近 FP32</a:t>
            </a:r>
            <a:endParaRPr sz="1125" b="0">
              <a:solidFill>
                <a:srgbClr val="222222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66750" y="2543175"/>
            <a:ext cx="8382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62000" y="2619375"/>
            <a:ext cx="647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E4M3</a:t>
            </a:r>
            <a:endParaRPr sz="1125" b="0">
              <a:solidFill>
                <a:srgbClr val="222222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504950" y="2543175"/>
            <a:ext cx="29337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600200" y="2619375"/>
            <a:ext cx="2743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约 ±448</a:t>
            </a:r>
            <a:endParaRPr sz="1125" b="0">
              <a:solidFill>
                <a:srgbClr val="222222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438650" y="2543175"/>
            <a:ext cx="23050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4533900" y="2619375"/>
            <a:ext cx="2114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精度较高，范围小</a:t>
            </a:r>
            <a:endParaRPr sz="1125" b="0">
              <a:solidFill>
                <a:srgbClr val="222222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66750" y="3076575"/>
            <a:ext cx="8382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62000" y="3152775"/>
            <a:ext cx="647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E5M2</a:t>
            </a:r>
            <a:endParaRPr sz="1125" b="0">
              <a:solidFill>
                <a:srgbClr val="222222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504950" y="3076575"/>
            <a:ext cx="29337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600200" y="3152775"/>
            <a:ext cx="2743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约 ±57,344</a:t>
            </a:r>
            <a:endParaRPr sz="1125" b="0">
              <a:solidFill>
                <a:srgbClr val="222222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4438650" y="3076575"/>
            <a:ext cx="23050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4533900" y="3152775"/>
            <a:ext cx="2114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范围较大，精度低</a:t>
            </a:r>
            <a:endParaRPr sz="1125" b="0">
              <a:solidFill>
                <a:srgbClr val="222222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620000" y="2190750"/>
            <a:ext cx="32385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7572375" y="1314450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数量级示意，不按线性比例</a:t>
            </a:r>
            <a:endParaRPr sz="1125" b="1">
              <a:solidFill>
                <a:srgbClr val="555555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524875" y="1666875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E4M3</a:t>
            </a:r>
            <a:endParaRPr sz="1275" b="1">
              <a:solidFill>
                <a:srgbClr val="FF6B35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763000" y="2038350"/>
            <a:ext cx="342900" cy="30480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7810500" y="24574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E5M2</a:t>
            </a:r>
            <a:endParaRPr sz="1275" b="1">
              <a:solidFill>
                <a:srgbClr val="000000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858125" y="2743200"/>
            <a:ext cx="2000250" cy="2095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7581900" y="325755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BF16 动态范围接近 FP32</a:t>
            </a:r>
            <a:endParaRPr sz="1275" b="0">
              <a:solidFill>
                <a:srgbClr val="555555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7620000" y="3600450"/>
            <a:ext cx="3238500" cy="11430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666750" y="4095750"/>
            <a:ext cx="10382250" cy="10668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857250" y="4248150"/>
            <a:ext cx="10001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222222"/>
                </a:solidFill>
              </a:defRPr>
            </a:pPr>
            <a:r>
              <a:rPr sz="1575" b="0">
                <a:solidFill>
                  <a:srgbClr val="222222"/>
                </a:solidFill>
              </a:rPr>
              <a:t>单靠 FP8 编码难以承接训练数值分布；</a:t>
            </a:r>
            <a:endParaRPr sz="1575" b="0">
              <a:solidFill>
                <a:srgbClr val="222222"/>
              </a:solidFill>
            </a:endParaRPr>
          </a:p>
          <a:p>
            <a:pPr algn="l">
              <a:defRPr sz="1575" b="0">
                <a:solidFill>
                  <a:srgbClr val="222222"/>
                </a:solidFill>
              </a:defRPr>
            </a:pPr>
            <a:r>
              <a:rPr sz="1575" b="0">
                <a:solidFill>
                  <a:srgbClr val="222222"/>
                </a:solidFill>
              </a:rPr>
              <a:t>因此需要引入新的机制：scale，</a:t>
            </a:r>
            <a:endParaRPr sz="1575" b="0">
              <a:solidFill>
                <a:srgbClr val="222222"/>
              </a:solidFill>
            </a:endParaRPr>
          </a:p>
          <a:p>
            <a:pPr algn="l">
              <a:defRPr sz="1575" b="0">
                <a:solidFill>
                  <a:srgbClr val="222222"/>
                </a:solidFill>
              </a:defRPr>
            </a:pPr>
            <a:r>
              <a:rPr sz="1575" b="0">
                <a:solidFill>
                  <a:srgbClr val="222222"/>
                </a:solidFill>
              </a:rPr>
              <a:t>将真实值按比例映射到 FP8 可表示范围。</a:t>
            </a:r>
            <a:endParaRPr sz="1575" b="0">
              <a:solidFill>
                <a:srgbClr val="222222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400050" y="6191250"/>
            <a:ext cx="113919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400050" y="63055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MXFP8</a:t>
            </a:r>
            <a:endParaRPr sz="975" b="1">
              <a:solidFill>
                <a:srgbClr val="555555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11239500" y="63055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5</a:t>
            </a:r>
            <a:endParaRPr sz="975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2385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BF16 -&gt; FP8</a:t>
            </a:r>
            <a:endParaRPr sz="975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925" b="0">
                <a:solidFill>
                  <a:srgbClr val="000000"/>
                </a:solidFill>
              </a:defRPr>
            </a:pPr>
            <a:r>
              <a:rPr sz="2925" b="0">
                <a:solidFill>
                  <a:srgbClr val="000000"/>
                </a:solidFill>
              </a:rPr>
              <a:t>FP8 表示：数据 + scale</a:t>
            </a:r>
            <a:endParaRPr sz="2925" b="0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1200150"/>
            <a:ext cx="2286000" cy="19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57250" y="1619250"/>
            <a:ext cx="4762500" cy="7239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47750" y="1771650"/>
            <a:ext cx="4381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0">
                <a:solidFill>
                  <a:srgbClr val="222222"/>
                </a:solidFill>
              </a:defRPr>
            </a:pPr>
            <a:r>
              <a:rPr sz="2025" b="0">
                <a:solidFill>
                  <a:srgbClr val="222222"/>
                </a:solidFill>
              </a:rPr>
              <a:t>q = cast_to_fp8(x * scale)</a:t>
            </a:r>
            <a:endParaRPr sz="2025" b="0">
              <a:solidFill>
                <a:srgbClr val="222222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57250" y="3143250"/>
            <a:ext cx="2000250" cy="7429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90600" y="3276600"/>
            <a:ext cx="17335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BF16/FP16 tensor</a:t>
            </a:r>
            <a:endParaRPr sz="1425" b="0">
              <a:solidFill>
                <a:srgbClr val="000000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381375" y="3143250"/>
            <a:ext cx="1238250" cy="7429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514725" y="3276600"/>
            <a:ext cx="9715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scale</a:t>
            </a:r>
            <a:endParaRPr sz="1425" b="0">
              <a:solidFill>
                <a:srgbClr val="000000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191125" y="3143250"/>
            <a:ext cx="2381250" cy="74295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324475" y="3276600"/>
            <a:ext cx="21145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FP8 data + scale_inv</a:t>
            </a:r>
            <a:endParaRPr sz="1425" b="0">
              <a:solidFill>
                <a:srgbClr val="000000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382000" y="3143250"/>
            <a:ext cx="1428750" cy="7429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515350" y="3276600"/>
            <a:ext cx="1162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GEMM</a:t>
            </a:r>
            <a:endParaRPr sz="1425" b="0">
              <a:solidFill>
                <a:srgbClr val="000000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952750" y="3505200"/>
            <a:ext cx="352425" cy="19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6" name="等腰三角形 15"/>
          <p:cNvSpPr>
            <a:spLocks noGrp="1"/>
          </p:cNvSpPr>
          <p:nvPr/>
        </p:nvSpPr>
        <p:spPr>
          <a:xfrm rot="5400000">
            <a:off x="3238500" y="3448050"/>
            <a:ext cx="133350" cy="133350"/>
          </a:xfrm>
          <a:prstGeom prst="triangle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714875" y="3505200"/>
            <a:ext cx="400050" cy="19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8" name="等腰三角形 17"/>
          <p:cNvSpPr>
            <a:spLocks noGrp="1"/>
          </p:cNvSpPr>
          <p:nvPr/>
        </p:nvSpPr>
        <p:spPr>
          <a:xfrm rot="5400000">
            <a:off x="5048250" y="3448050"/>
            <a:ext cx="133350" cy="133350"/>
          </a:xfrm>
          <a:prstGeom prst="triangle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667625" y="3505200"/>
            <a:ext cx="638175" cy="19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20" name="等腰三角形 19"/>
          <p:cNvSpPr>
            <a:spLocks noGrp="1"/>
          </p:cNvSpPr>
          <p:nvPr/>
        </p:nvSpPr>
        <p:spPr>
          <a:xfrm rot="5400000">
            <a:off x="8239125" y="3448050"/>
            <a:ext cx="133350" cy="133350"/>
          </a:xfrm>
          <a:prstGeom prst="triangle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04875" y="4667250"/>
            <a:ext cx="6858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• 量化后的 FP8 data</a:t>
            </a:r>
            <a:endParaRPr sz="1800" b="0">
              <a:solidFill>
                <a:srgbClr val="222222"/>
              </a:solidFill>
            </a:endParaRPr>
          </a:p>
          <a:p>
            <a:pPr algn="l"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• 对应的 scale / scale_inv</a:t>
            </a:r>
            <a:endParaRPr sz="1800" b="0">
              <a:solidFill>
                <a:srgbClr val="222222"/>
              </a:solidFill>
            </a:endParaRPr>
          </a:p>
          <a:p>
            <a:pPr algn="l"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• 能解释这组表示的 GEMM kernel</a:t>
            </a:r>
            <a:endParaRPr sz="1800" b="0">
              <a:solidFill>
                <a:srgbClr val="222222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00050" y="6191250"/>
            <a:ext cx="113919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400050" y="63055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MXFP8</a:t>
            </a:r>
            <a:endParaRPr sz="975" b="1">
              <a:solidFill>
                <a:srgbClr val="555555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1239500" y="63055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6</a:t>
            </a:r>
            <a:endParaRPr sz="975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2385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BF16 -&gt; FP8</a:t>
            </a:r>
            <a:endParaRPr sz="975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925" b="0">
                <a:solidFill>
                  <a:srgbClr val="000000"/>
                </a:solidFill>
              </a:defRPr>
            </a:pPr>
            <a:r>
              <a:rPr sz="2925" b="0">
                <a:solidFill>
                  <a:srgbClr val="000000"/>
                </a:solidFill>
              </a:rPr>
              <a:t>FP8 数据消费：低精 GEMM 消费量化表示</a:t>
            </a:r>
            <a:endParaRPr sz="2925" b="0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1200150"/>
            <a:ext cx="2286000" cy="19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1638300"/>
            <a:ext cx="1619250" cy="7810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95350" y="1771650"/>
            <a:ext cx="1352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高精 tensor</a:t>
            </a:r>
            <a:endParaRPr sz="1425" b="0">
              <a:solidFill>
                <a:srgbClr val="000000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238500" y="1638300"/>
            <a:ext cx="1809750" cy="78105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3371850" y="1771650"/>
            <a:ext cx="15430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量化数据 + scale</a:t>
            </a:r>
            <a:endParaRPr sz="1425" b="0">
              <a:solidFill>
                <a:srgbClr val="000000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905500" y="1638300"/>
            <a:ext cx="1905000" cy="7810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038850" y="1771650"/>
            <a:ext cx="16383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低精 GEMM kernel</a:t>
            </a:r>
            <a:endParaRPr sz="1425" b="0">
              <a:solidFill>
                <a:srgbClr val="000000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572500" y="1638300"/>
            <a:ext cx="2095500" cy="7810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705850" y="1771650"/>
            <a:ext cx="1828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高精输出 / 状态更新</a:t>
            </a:r>
            <a:endParaRPr sz="1425" b="0">
              <a:solidFill>
                <a:srgbClr val="000000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495550" y="2019300"/>
            <a:ext cx="647700" cy="19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4" name="等腰三角形 13"/>
          <p:cNvSpPr>
            <a:spLocks noGrp="1"/>
          </p:cNvSpPr>
          <p:nvPr/>
        </p:nvSpPr>
        <p:spPr>
          <a:xfrm rot="5400000">
            <a:off x="3076575" y="1962150"/>
            <a:ext cx="133350" cy="133350"/>
          </a:xfrm>
          <a:prstGeom prst="triangle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162550" y="2019300"/>
            <a:ext cx="647700" cy="19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6" name="等腰三角形 15"/>
          <p:cNvSpPr>
            <a:spLocks noGrp="1"/>
          </p:cNvSpPr>
          <p:nvPr/>
        </p:nvSpPr>
        <p:spPr>
          <a:xfrm rot="5400000">
            <a:off x="5743575" y="1962150"/>
            <a:ext cx="133350" cy="133350"/>
          </a:xfrm>
          <a:prstGeom prst="triangle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924800" y="2019300"/>
            <a:ext cx="552450" cy="19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8" name="等腰三角形 17"/>
          <p:cNvSpPr>
            <a:spLocks noGrp="1"/>
          </p:cNvSpPr>
          <p:nvPr/>
        </p:nvSpPr>
        <p:spPr>
          <a:xfrm rot="5400000">
            <a:off x="8410575" y="1962150"/>
            <a:ext cx="133350" cy="133350"/>
          </a:xfrm>
          <a:prstGeom prst="triangle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00100" y="3238500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Linear 训练中的三条 GEMM</a:t>
            </a:r>
            <a:endParaRPr sz="1950" b="1">
              <a:solidFill>
                <a:srgbClr val="000000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00100" y="3810000"/>
            <a:ext cx="6191250" cy="11430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90600" y="3962400"/>
            <a:ext cx="58102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forward: y  = x @ w^T</a:t>
            </a:r>
            <a:endParaRPr sz="1800" b="0">
              <a:solidFill>
                <a:srgbClr val="222222"/>
              </a:solidFill>
            </a:endParaRPr>
          </a:p>
          <a:p>
            <a:pPr algn="l"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dgrad:   dx = dy @ w</a:t>
            </a:r>
            <a:endParaRPr sz="1800" b="0">
              <a:solidFill>
                <a:srgbClr val="222222"/>
              </a:solidFill>
            </a:endParaRPr>
          </a:p>
          <a:p>
            <a:pPr algn="l"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wgrad:   dw = dy^T @ x</a:t>
            </a:r>
            <a:endParaRPr sz="1800" b="0">
              <a:solidFill>
                <a:srgbClr val="222222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00050" y="6191250"/>
            <a:ext cx="113919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400050" y="63055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MXFP8</a:t>
            </a:r>
            <a:endParaRPr sz="975" b="1">
              <a:solidFill>
                <a:srgbClr val="555555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1239500" y="63055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7</a:t>
            </a:r>
            <a:endParaRPr sz="975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2385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FP8 runtime</a:t>
            </a:r>
            <a:endParaRPr sz="975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625" b="0">
                <a:solidFill>
                  <a:srgbClr val="000000"/>
                </a:solidFill>
              </a:defRPr>
            </a:pPr>
            <a:r>
              <a:rPr sz="2625" b="0">
                <a:solidFill>
                  <a:srgbClr val="000000"/>
                </a:solidFill>
              </a:rPr>
              <a:t>Linear 最小闭环：量化 -&gt; GEMM -&gt; scale 更新</a:t>
            </a:r>
            <a:endParaRPr sz="2625" b="0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1200150"/>
            <a:ext cx="2286000" cy="19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428750" y="1952625"/>
            <a:ext cx="1571625" cy="6286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562100" y="2085975"/>
            <a:ext cx="13049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scale_n</a:t>
            </a:r>
            <a:endParaRPr sz="1500" b="0">
              <a:solidFill>
                <a:srgbClr val="000000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905250" y="1952625"/>
            <a:ext cx="1571625" cy="62865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4038600" y="2085975"/>
            <a:ext cx="13049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quantize</a:t>
            </a:r>
            <a:endParaRPr sz="1500" b="0">
              <a:solidFill>
                <a:srgbClr val="000000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381750" y="1952625"/>
            <a:ext cx="1571625" cy="62865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515100" y="2085975"/>
            <a:ext cx="13049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GEMM</a:t>
            </a:r>
            <a:endParaRPr sz="1500" b="0">
              <a:solidFill>
                <a:srgbClr val="000000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381750" y="3905250"/>
            <a:ext cx="1571625" cy="6286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515100" y="4038600"/>
            <a:ext cx="13049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amax_n</a:t>
            </a:r>
            <a:endParaRPr sz="1500" b="0">
              <a:solidFill>
                <a:srgbClr val="000000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905250" y="3905250"/>
            <a:ext cx="1571625" cy="6286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038600" y="4038600"/>
            <a:ext cx="13049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update</a:t>
            </a:r>
            <a:endParaRPr sz="1500" b="0">
              <a:solidFill>
                <a:srgbClr val="000000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428750" y="3905250"/>
            <a:ext cx="1571625" cy="6286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562100" y="4038600"/>
            <a:ext cx="13049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scale_{n+1}</a:t>
            </a:r>
            <a:endParaRPr sz="1500" b="0">
              <a:solidFill>
                <a:srgbClr val="000000"/>
              </a:solidFill>
            </a:endParaRPr>
          </a:p>
        </p:txBody>
      </p:sp>
      <p:cxnSp>
        <p:nvCxnSpPr>
          <p:cNvPr id="46" name="直接箭头连接符 45"/>
          <p:cNvCxnSpPr>
            <a:stCxn id="4" idx="3"/>
            <a:endCxn id="6" idx="1"/>
          </p:cNvCxnSpPr>
          <p:nvPr/>
        </p:nvCxnSpPr>
        <p:spPr>
          <a:xfrm>
            <a:off x="3000375" y="2266950"/>
            <a:ext cx="904875" cy="0"/>
          </a:xfrm>
          <a:prstGeom prst="straightConnector1">
            <a:avLst/>
          </a:prstGeom>
          <a:ln w="19050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47" name="直接箭头连接符 46"/>
          <p:cNvCxnSpPr>
            <a:stCxn id="6" idx="3"/>
            <a:endCxn id="8" idx="1"/>
          </p:cNvCxnSpPr>
          <p:nvPr/>
        </p:nvCxnSpPr>
        <p:spPr>
          <a:xfrm>
            <a:off x="5476875" y="2266950"/>
            <a:ext cx="904875" cy="0"/>
          </a:xfrm>
          <a:prstGeom prst="straightConnector1">
            <a:avLst/>
          </a:prstGeom>
          <a:ln w="19050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48" name="直接箭头连接符 47"/>
          <p:cNvCxnSpPr>
            <a:stCxn id="8" idx="2"/>
            <a:endCxn id="10" idx="0"/>
          </p:cNvCxnSpPr>
          <p:nvPr/>
        </p:nvCxnSpPr>
        <p:spPr>
          <a:xfrm>
            <a:off x="7167563" y="2581275"/>
            <a:ext cx="0" cy="1323975"/>
          </a:xfrm>
          <a:prstGeom prst="straightConnector1">
            <a:avLst/>
          </a:prstGeom>
          <a:ln w="19050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49" name="直接箭头连接符 48"/>
          <p:cNvCxnSpPr>
            <a:stCxn id="10" idx="1"/>
            <a:endCxn id="12" idx="3"/>
          </p:cNvCxnSpPr>
          <p:nvPr/>
        </p:nvCxnSpPr>
        <p:spPr>
          <a:xfrm flipH="1">
            <a:off x="5476875" y="4219575"/>
            <a:ext cx="904875" cy="0"/>
          </a:xfrm>
          <a:prstGeom prst="straightConnector1">
            <a:avLst/>
          </a:prstGeom>
          <a:ln w="19050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50" name="直接箭头连接符 49"/>
          <p:cNvCxnSpPr>
            <a:stCxn id="12" idx="1"/>
            <a:endCxn id="14" idx="3"/>
          </p:cNvCxnSpPr>
          <p:nvPr/>
        </p:nvCxnSpPr>
        <p:spPr>
          <a:xfrm flipH="1">
            <a:off x="3000375" y="4219575"/>
            <a:ext cx="904875" cy="0"/>
          </a:xfrm>
          <a:prstGeom prst="straightConnector1">
            <a:avLst/>
          </a:prstGeom>
          <a:ln w="19050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51" name="直接箭头连接符 50"/>
          <p:cNvCxnSpPr>
            <a:stCxn id="14" idx="0"/>
            <a:endCxn id="4" idx="2"/>
          </p:cNvCxnSpPr>
          <p:nvPr/>
        </p:nvCxnSpPr>
        <p:spPr>
          <a:xfrm flipV="1">
            <a:off x="2214563" y="2581275"/>
            <a:ext cx="0" cy="1323975"/>
          </a:xfrm>
          <a:prstGeom prst="straightConnector1">
            <a:avLst/>
          </a:prstGeom>
          <a:ln w="19050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22" name="矩形 21"/>
          <p:cNvSpPr>
            <a:spLocks noGrp="1"/>
          </p:cNvSpPr>
          <p:nvPr/>
        </p:nvSpPr>
        <p:spPr>
          <a:xfrm>
            <a:off x="3429000" y="165735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本轮量化</a:t>
            </a:r>
            <a:endParaRPr sz="1200" b="1">
              <a:solidFill>
                <a:srgbClr val="FF6B35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905500" y="165735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本轮执行</a:t>
            </a:r>
            <a:endParaRPr sz="1200" b="1">
              <a:solidFill>
                <a:srgbClr val="FF6B35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715250" y="314325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记录 amax</a:t>
            </a:r>
            <a:endParaRPr sz="1200" b="1">
              <a:solidFill>
                <a:srgbClr val="555555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2476500" y="47053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更新下一轮 scale</a:t>
            </a:r>
            <a:endParaRPr sz="1200" b="1">
              <a:solidFill>
                <a:srgbClr val="555555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238250" y="5219700"/>
            <a:ext cx="8572500" cy="5524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428750" y="5372100"/>
            <a:ext cx="819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本轮用旧 scale，本轮记录新 amax，统一更新后给下一轮用。</a:t>
            </a:r>
            <a:endParaRPr sz="1650" b="0">
              <a:solidFill>
                <a:srgbClr val="222222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400050" y="6191250"/>
            <a:ext cx="113919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400050" y="63055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MXFP8</a:t>
            </a:r>
            <a:endParaRPr sz="975" b="1">
              <a:solidFill>
                <a:srgbClr val="555555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1239500" y="63055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8</a:t>
            </a:r>
            <a:endParaRPr sz="975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2385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FP8 runtime</a:t>
            </a:r>
            <a:endParaRPr sz="975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625" b="0">
                <a:solidFill>
                  <a:srgbClr val="000000"/>
                </a:solidFill>
              </a:defRPr>
            </a:pPr>
            <a:r>
              <a:rPr sz="2625" b="0">
                <a:solidFill>
                  <a:srgbClr val="000000"/>
                </a:solidFill>
              </a:rPr>
              <a:t>DelayedScaling 状态：amax / scale / history</a:t>
            </a:r>
            <a:endParaRPr sz="2625" b="0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1200150"/>
            <a:ext cx="2286000" cy="19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47750" y="1619250"/>
            <a:ext cx="4000500" cy="6096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43000" y="1695450"/>
            <a:ext cx="3810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</a:rPr>
              <a:t>概念</a:t>
            </a:r>
            <a:endParaRPr sz="1275" b="1">
              <a:solidFill>
                <a:srgbClr val="222222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048250" y="1619250"/>
            <a:ext cx="5334000" cy="6096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5143500" y="1695450"/>
            <a:ext cx="514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</a:rPr>
              <a:t>作用</a:t>
            </a:r>
            <a:endParaRPr sz="1275" b="1">
              <a:solidFill>
                <a:srgbClr val="222222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47750" y="2228850"/>
            <a:ext cx="40005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143000" y="2305050"/>
            <a:ext cx="3810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amax</a:t>
            </a:r>
            <a:endParaRPr sz="1125" b="0">
              <a:solidFill>
                <a:srgbClr val="222222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048250" y="2228850"/>
            <a:ext cx="53340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143500" y="2305050"/>
            <a:ext cx="514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本轮观测到的最大绝对值</a:t>
            </a:r>
            <a:endParaRPr sz="1125" b="0">
              <a:solidFill>
                <a:srgbClr val="222222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47750" y="2838450"/>
            <a:ext cx="40005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143000" y="2914650"/>
            <a:ext cx="3810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scale</a:t>
            </a:r>
            <a:endParaRPr sz="1125" b="0">
              <a:solidFill>
                <a:srgbClr val="222222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048250" y="2838450"/>
            <a:ext cx="53340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5143500" y="2914650"/>
            <a:ext cx="514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下一次量化真正使用的缩放因子</a:t>
            </a:r>
            <a:endParaRPr sz="1125" b="0">
              <a:solidFill>
                <a:srgbClr val="222222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047750" y="3448050"/>
            <a:ext cx="40005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143000" y="3524250"/>
            <a:ext cx="3810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amax_history</a:t>
            </a:r>
            <a:endParaRPr sz="1125" b="0">
              <a:solidFill>
                <a:srgbClr val="222222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048250" y="3448050"/>
            <a:ext cx="53340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143500" y="3524250"/>
            <a:ext cx="514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平滑历史窗口，降低单次异常值影响</a:t>
            </a:r>
            <a:endParaRPr sz="1125" b="0">
              <a:solidFill>
                <a:srgbClr val="222222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714500" y="4762500"/>
            <a:ext cx="2000250" cy="5524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847850" y="4895850"/>
            <a:ext cx="1733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observe amax</a:t>
            </a:r>
            <a:endParaRPr sz="1350" b="0">
              <a:solidFill>
                <a:srgbClr val="000000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572000" y="4762500"/>
            <a:ext cx="2000250" cy="55245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4705350" y="4895850"/>
            <a:ext cx="1733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update history</a:t>
            </a:r>
            <a:endParaRPr sz="1350" b="0">
              <a:solidFill>
                <a:srgbClr val="000000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429500" y="4762500"/>
            <a:ext cx="2000250" cy="5524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7562850" y="4895850"/>
            <a:ext cx="1733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compute next scale</a:t>
            </a:r>
            <a:endParaRPr sz="1350" b="0">
              <a:solidFill>
                <a:srgbClr val="000000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3810000" y="5029200"/>
            <a:ext cx="666750" cy="19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28" name="等腰三角形 27"/>
          <p:cNvSpPr>
            <a:spLocks noGrp="1"/>
          </p:cNvSpPr>
          <p:nvPr/>
        </p:nvSpPr>
        <p:spPr>
          <a:xfrm rot="5400000">
            <a:off x="4410075" y="4972050"/>
            <a:ext cx="133350" cy="133350"/>
          </a:xfrm>
          <a:prstGeom prst="triangle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6667500" y="5029200"/>
            <a:ext cx="666750" cy="19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30" name="等腰三角形 29"/>
          <p:cNvSpPr>
            <a:spLocks noGrp="1"/>
          </p:cNvSpPr>
          <p:nvPr/>
        </p:nvSpPr>
        <p:spPr>
          <a:xfrm rot="5400000">
            <a:off x="7267575" y="4972050"/>
            <a:ext cx="133350" cy="133350"/>
          </a:xfrm>
          <a:prstGeom prst="triangle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400050" y="6191250"/>
            <a:ext cx="113919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400050" y="63055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MXFP8</a:t>
            </a:r>
            <a:endParaRPr sz="975" b="1">
              <a:solidFill>
                <a:srgbClr val="555555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1239500" y="63055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9</a:t>
            </a:r>
            <a:endParaRPr sz="975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2385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FP8 runtime</a:t>
            </a:r>
            <a:endParaRPr sz="975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925" b="0">
                <a:solidFill>
                  <a:srgbClr val="000000"/>
                </a:solidFill>
              </a:defRPr>
            </a:pPr>
            <a:r>
              <a:rPr sz="2925" b="0">
                <a:solidFill>
                  <a:srgbClr val="000000"/>
                </a:solidFill>
              </a:rPr>
              <a:t>普通 FP8 的局限：scale 粒度与状态成本</a:t>
            </a:r>
            <a:endParaRPr sz="2925" b="0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1200150"/>
            <a:ext cx="2286000" cy="19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904875" y="1857375"/>
            <a:ext cx="3333750" cy="1762125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38225" y="1990725"/>
            <a:ext cx="3067050" cy="1571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一个 tensor</a:t>
            </a:r>
            <a:endParaRPr sz="1875" b="0">
              <a:solidFill>
                <a:srgbClr val="000000"/>
              </a:solidFill>
            </a:endParaRPr>
          </a:p>
          <a:p>
            <a:pPr algn="ctr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共用一个 scale</a:t>
            </a:r>
            <a:endParaRPr sz="1875" b="0">
              <a:solidFill>
                <a:srgbClr val="000000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47750" y="3905250"/>
            <a:ext cx="3048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75" b="0">
                <a:solidFill>
                  <a:srgbClr val="222222"/>
                </a:solidFill>
              </a:defRPr>
            </a:pPr>
            <a:r>
              <a:rPr sz="1575" b="0">
                <a:solidFill>
                  <a:srgbClr val="222222"/>
                </a:solidFill>
              </a:rPr>
              <a:t>scale 照顾大值时，小值有效精度更容易受损</a:t>
            </a:r>
            <a:endParaRPr sz="1575" b="0">
              <a:solidFill>
                <a:srgbClr val="222222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381625" y="2047875"/>
            <a:ext cx="514350" cy="81915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5991225" y="2047875"/>
            <a:ext cx="514350" cy="8191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600825" y="2047875"/>
            <a:ext cx="514350" cy="81915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210425" y="2047875"/>
            <a:ext cx="514350" cy="8191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820025" y="2047875"/>
            <a:ext cx="514350" cy="81915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429625" y="2047875"/>
            <a:ext cx="514350" cy="8191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9039225" y="2047875"/>
            <a:ext cx="514350" cy="81915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648825" y="2047875"/>
            <a:ext cx="514350" cy="8191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5191125" y="3143250"/>
            <a:ext cx="5429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MXFP8：切成多个 32 元素 block</a:t>
            </a:r>
            <a:endParaRPr sz="1875" b="1">
              <a:solidFill>
                <a:srgbClr val="000000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476875" y="3829050"/>
            <a:ext cx="4953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• scale 粒度进一步切细</a:t>
            </a:r>
            <a:endParaRPr sz="1650" b="0">
              <a:solidFill>
                <a:srgbClr val="222222"/>
              </a:solidFill>
            </a:endParaRPr>
          </a:p>
          <a:p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• 减少同一 tensor 内分布不均的影响</a:t>
            </a:r>
            <a:endParaRPr sz="1650" b="0">
              <a:solidFill>
                <a:srgbClr val="222222"/>
              </a:solidFill>
            </a:endParaRPr>
          </a:p>
          <a:p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• 但引入方向和 32 对齐约束</a:t>
            </a:r>
            <a:endParaRPr sz="1650" b="0">
              <a:solidFill>
                <a:srgbClr val="222222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00050" y="6191250"/>
            <a:ext cx="113919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00050" y="63055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MXFP8</a:t>
            </a:r>
            <a:endParaRPr sz="975" b="1">
              <a:solidFill>
                <a:srgbClr val="555555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1239500" y="63055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10</a:t>
            </a:r>
            <a:endParaRPr sz="975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2385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MXFP8</a:t>
            </a:r>
            <a:endParaRPr sz="975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625" b="0">
                <a:solidFill>
                  <a:srgbClr val="000000"/>
                </a:solidFill>
              </a:defRPr>
            </a:pPr>
            <a:r>
              <a:rPr sz="2625" b="0">
                <a:solidFill>
                  <a:srgbClr val="000000"/>
                </a:solidFill>
              </a:rPr>
              <a:t>MXFP8 = FP8 data + E8M0 microscale</a:t>
            </a:r>
            <a:endParaRPr sz="2625" b="0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1200150"/>
            <a:ext cx="2286000" cy="19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238250" y="1524000"/>
            <a:ext cx="7429500" cy="7239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428750" y="1676400"/>
            <a:ext cx="7048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0">
                <a:solidFill>
                  <a:srgbClr val="222222"/>
                </a:solidFill>
              </a:defRPr>
            </a:pPr>
            <a:r>
              <a:rPr sz="2100" b="0">
                <a:solidFill>
                  <a:srgbClr val="222222"/>
                </a:solidFill>
              </a:rPr>
              <a:t>MXFP8 = FP8 data + E8M0 microscale</a:t>
            </a:r>
            <a:endParaRPr sz="2100" b="0">
              <a:solidFill>
                <a:srgbClr val="222222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333500" y="3257550"/>
            <a:ext cx="1952625" cy="66675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333500" y="3467100"/>
            <a:ext cx="1952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32 elements</a:t>
            </a:r>
            <a:endParaRPr sz="1425" b="0">
              <a:solidFill>
                <a:srgbClr val="000000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333500" y="2857500"/>
            <a:ext cx="1952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E8M0 scale</a:t>
            </a:r>
            <a:endParaRPr sz="1200" b="1">
              <a:solidFill>
                <a:srgbClr val="FF6B35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571875" y="3257550"/>
            <a:ext cx="1952625" cy="6667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3571875" y="3467100"/>
            <a:ext cx="1952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32 elements</a:t>
            </a:r>
            <a:endParaRPr sz="1425" b="0">
              <a:solidFill>
                <a:srgbClr val="000000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571875" y="2857500"/>
            <a:ext cx="1952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E8M0 scale</a:t>
            </a:r>
            <a:endParaRPr sz="1200" b="1">
              <a:solidFill>
                <a:srgbClr val="FF6B35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810250" y="3257550"/>
            <a:ext cx="1952625" cy="66675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5810250" y="3467100"/>
            <a:ext cx="1952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32 elements</a:t>
            </a:r>
            <a:endParaRPr sz="1425" b="0">
              <a:solidFill>
                <a:srgbClr val="000000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810250" y="2857500"/>
            <a:ext cx="1952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E8M0 scale</a:t>
            </a:r>
            <a:endParaRPr sz="1200" b="1">
              <a:solidFill>
                <a:srgbClr val="FF6B35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048625" y="3257550"/>
            <a:ext cx="1952625" cy="6667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048625" y="3467100"/>
            <a:ext cx="1952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32 elements</a:t>
            </a:r>
            <a:endParaRPr sz="1425" b="0">
              <a:solidFill>
                <a:srgbClr val="000000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048625" y="2857500"/>
            <a:ext cx="1952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E8M0 scale</a:t>
            </a:r>
            <a:endParaRPr sz="1200" b="1">
              <a:solidFill>
                <a:srgbClr val="FF6B35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714500" y="4762500"/>
            <a:ext cx="6667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连续 32 个元素共享一个 scale</a:t>
            </a:r>
            <a:endParaRPr sz="1725" b="0">
              <a:solidFill>
                <a:srgbClr val="222222"/>
              </a:solidFill>
            </a:endParaRPr>
          </a:p>
          <a:p>
            <a:pPr algn="l"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scale 使用 E8M0</a:t>
            </a:r>
            <a:endParaRPr sz="1725" b="0">
              <a:solidFill>
                <a:srgbClr val="222222"/>
              </a:solidFill>
            </a:endParaRPr>
          </a:p>
          <a:p>
            <a:pPr algn="l"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scale 是 block 级，不是 tensor 级</a:t>
            </a:r>
            <a:endParaRPr sz="1725" b="0">
              <a:solidFill>
                <a:srgbClr val="222222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00050" y="6191250"/>
            <a:ext cx="113919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400050" y="63055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MXFP8</a:t>
            </a:r>
            <a:endParaRPr sz="975" b="1">
              <a:solidFill>
                <a:srgbClr val="555555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1239500" y="63055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11</a:t>
            </a:r>
            <a:endParaRPr sz="975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2385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MXFP8</a:t>
            </a:r>
            <a:endParaRPr sz="975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925" b="0">
                <a:solidFill>
                  <a:srgbClr val="000000"/>
                </a:solidFill>
              </a:defRPr>
            </a:pPr>
            <a:r>
              <a:rPr sz="2925" b="0">
                <a:solidFill>
                  <a:srgbClr val="000000"/>
                </a:solidFill>
              </a:rPr>
              <a:t>块级 scale 的价值：误差、状态和约束</a:t>
            </a:r>
            <a:endParaRPr sz="2925" b="0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1200150"/>
            <a:ext cx="2286000" cy="19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00125" y="1619250"/>
            <a:ext cx="190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算法侧</a:t>
            </a:r>
            <a:endParaRPr sz="2100" b="1">
              <a:solidFill>
                <a:srgbClr val="000000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00125" y="2190750"/>
            <a:ext cx="3714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• 每个 scale 覆盖的值域更窄</a:t>
            </a:r>
            <a:endParaRPr sz="1650" b="0">
              <a:solidFill>
                <a:srgbClr val="222222"/>
              </a:solidFill>
            </a:endParaRPr>
          </a:p>
          <a:p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• 局部分布差异更容易被适配</a:t>
            </a:r>
            <a:endParaRPr sz="1650" b="0">
              <a:solidFill>
                <a:srgbClr val="222222"/>
              </a:solidFill>
            </a:endParaRPr>
          </a:p>
          <a:p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• 量化误差更可控</a:t>
            </a:r>
            <a:endParaRPr sz="1650" b="0">
              <a:solidFill>
                <a:srgbClr val="222222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0" y="2400300"/>
            <a:ext cx="2190750" cy="104775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5086350" y="2533650"/>
            <a:ext cx="19240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950" b="0">
                <a:solidFill>
                  <a:srgbClr val="000000"/>
                </a:solidFill>
              </a:defRPr>
            </a:pPr>
            <a:r>
              <a:rPr sz="1950" b="0">
                <a:solidFill>
                  <a:srgbClr val="000000"/>
                </a:solidFill>
              </a:rPr>
              <a:t>32-element</a:t>
            </a:r>
            <a:endParaRPr sz="1950" b="0">
              <a:solidFill>
                <a:srgbClr val="000000"/>
              </a:solidFill>
            </a:endParaRPr>
          </a:p>
          <a:p>
            <a:pPr algn="ctr">
              <a:defRPr sz="1950" b="0">
                <a:solidFill>
                  <a:srgbClr val="000000"/>
                </a:solidFill>
              </a:defRPr>
            </a:pPr>
            <a:r>
              <a:rPr sz="1950" b="0">
                <a:solidFill>
                  <a:srgbClr val="000000"/>
                </a:solidFill>
              </a:rPr>
              <a:t>block scale</a:t>
            </a:r>
            <a:endParaRPr sz="1950" b="0">
              <a:solidFill>
                <a:srgbClr val="000000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715250" y="1619250"/>
            <a:ext cx="190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框架侧</a:t>
            </a:r>
            <a:endParaRPr sz="2100" b="1">
              <a:solidFill>
                <a:srgbClr val="000000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715250" y="2190750"/>
            <a:ext cx="371475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• scale 粒度从 tensor 级细化到 block 级</a:t>
            </a:r>
            <a:endParaRPr sz="1500" b="0">
              <a:solidFill>
                <a:srgbClr val="222222"/>
              </a:solidFill>
            </a:endParaRPr>
          </a:p>
          <a:p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• data 必须按对应 block scale 解释</a:t>
            </a:r>
            <a:endParaRPr sz="1500" b="0">
              <a:solidFill>
                <a:srgbClr val="222222"/>
              </a:solidFill>
            </a:endParaRPr>
          </a:p>
          <a:p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• kernel、缓存、通信维护 data-block scale 配对</a:t>
            </a:r>
            <a:endParaRPr sz="1500" b="0">
              <a:solidFill>
                <a:srgbClr val="222222"/>
              </a:solidFill>
            </a:endParaRPr>
          </a:p>
          <a:p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• shape 和 shard 边界满足 block 对齐</a:t>
            </a:r>
            <a:endParaRPr sz="1500" b="0">
              <a:solidFill>
                <a:srgbClr val="222222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00050" y="6191250"/>
            <a:ext cx="113919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00050" y="63055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MXFP8</a:t>
            </a:r>
            <a:endParaRPr sz="975" b="1">
              <a:solidFill>
                <a:srgbClr val="555555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239500" y="63055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12</a:t>
            </a:r>
            <a:endParaRPr sz="975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2385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MXFP8</a:t>
            </a:r>
            <a:endParaRPr sz="975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925" b="0">
                <a:solidFill>
                  <a:srgbClr val="000000"/>
                </a:solidFill>
              </a:defRPr>
            </a:pPr>
            <a:r>
              <a:rPr sz="2925" b="0">
                <a:solidFill>
                  <a:srgbClr val="000000"/>
                </a:solidFill>
              </a:rPr>
              <a:t>MXFP8 的 32 元素 block 在矩阵里有方向</a:t>
            </a:r>
            <a:endParaRPr sz="2925" b="0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1200150"/>
            <a:ext cx="2286000" cy="19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428750" y="17145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771650" y="17145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2114550" y="17145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2457450" y="17145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2800350" y="17145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143250" y="17145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3486150" y="17145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829050" y="17145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428750" y="2057400"/>
            <a:ext cx="342900" cy="34290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771650" y="2057400"/>
            <a:ext cx="342900" cy="34290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2114550" y="2057400"/>
            <a:ext cx="342900" cy="34290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2457450" y="2057400"/>
            <a:ext cx="342900" cy="34290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2800350" y="2057400"/>
            <a:ext cx="342900" cy="34290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3143250" y="2057400"/>
            <a:ext cx="342900" cy="34290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3486150" y="2057400"/>
            <a:ext cx="342900" cy="34290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3829050" y="2057400"/>
            <a:ext cx="342900" cy="34290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428750" y="24003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771650" y="24003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2114550" y="24003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2457450" y="24003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2800350" y="24003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3143250" y="24003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3486150" y="24003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3829050" y="24003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1428750" y="27432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1771650" y="27432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2114550" y="27432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2457450" y="27432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2800350" y="27432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3143250" y="27432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3486150" y="27432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3829050" y="27432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1428750" y="30861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1771650" y="30861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2114550" y="30861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2457450" y="30861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2800350" y="30861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3143250" y="30861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3486150" y="30861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3829050" y="30861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1428750" y="1314450"/>
            <a:ext cx="2743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rowwise</a:t>
            </a:r>
            <a:endParaRPr sz="1800" b="1">
              <a:solidFill>
                <a:srgbClr val="000000"/>
              </a:solidFill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1428750" y="2400300"/>
            <a:ext cx="2743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32-element segment</a:t>
            </a:r>
            <a:endParaRPr sz="1125" b="1">
              <a:solidFill>
                <a:srgbClr val="FF6B35"/>
              </a:solidFill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1428750" y="3476625"/>
            <a:ext cx="2743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示意图省略中间元素</a:t>
            </a:r>
            <a:endParaRPr sz="1050" b="0">
              <a:solidFill>
                <a:srgbClr val="555555"/>
              </a:solidFill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1428750" y="3743325"/>
            <a:ext cx="27432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沿行方向</a:t>
            </a:r>
            <a:endParaRPr sz="1350" b="0">
              <a:solidFill>
                <a:srgbClr val="222222"/>
              </a:solidFill>
            </a:endParaRPr>
          </a:p>
          <a:p>
            <a:pPr algn="ctr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每 32 个连续元素共享 scale</a:t>
            </a:r>
            <a:endParaRPr sz="1350" b="0">
              <a:solidFill>
                <a:srgbClr val="222222"/>
              </a:solidFill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6572250" y="17145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6915150" y="17145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7258050" y="1714500"/>
            <a:ext cx="342900" cy="34290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7600950" y="17145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7943850" y="17145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8286750" y="17145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8629650" y="17145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8972550" y="17145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6572250" y="20574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6915150" y="20574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7258050" y="2057400"/>
            <a:ext cx="342900" cy="34290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7600950" y="20574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7943850" y="20574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8286750" y="20574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3" name="矩形 62"/>
          <p:cNvSpPr>
            <a:spLocks noGrp="1"/>
          </p:cNvSpPr>
          <p:nvPr/>
        </p:nvSpPr>
        <p:spPr>
          <a:xfrm>
            <a:off x="8629650" y="20574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4" name="矩形 63"/>
          <p:cNvSpPr>
            <a:spLocks noGrp="1"/>
          </p:cNvSpPr>
          <p:nvPr/>
        </p:nvSpPr>
        <p:spPr>
          <a:xfrm>
            <a:off x="8972550" y="20574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6572250" y="24003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6" name="矩形 65"/>
          <p:cNvSpPr>
            <a:spLocks noGrp="1"/>
          </p:cNvSpPr>
          <p:nvPr/>
        </p:nvSpPr>
        <p:spPr>
          <a:xfrm>
            <a:off x="6915150" y="24003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7" name="矩形 66"/>
          <p:cNvSpPr>
            <a:spLocks noGrp="1"/>
          </p:cNvSpPr>
          <p:nvPr/>
        </p:nvSpPr>
        <p:spPr>
          <a:xfrm>
            <a:off x="7258050" y="2400300"/>
            <a:ext cx="342900" cy="34290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8" name="矩形 67"/>
          <p:cNvSpPr>
            <a:spLocks noGrp="1"/>
          </p:cNvSpPr>
          <p:nvPr/>
        </p:nvSpPr>
        <p:spPr>
          <a:xfrm>
            <a:off x="7600950" y="24003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9" name="矩形 68"/>
          <p:cNvSpPr>
            <a:spLocks noGrp="1"/>
          </p:cNvSpPr>
          <p:nvPr/>
        </p:nvSpPr>
        <p:spPr>
          <a:xfrm>
            <a:off x="7943850" y="24003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0" name="矩形 69"/>
          <p:cNvSpPr>
            <a:spLocks noGrp="1"/>
          </p:cNvSpPr>
          <p:nvPr/>
        </p:nvSpPr>
        <p:spPr>
          <a:xfrm>
            <a:off x="8286750" y="24003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1" name="矩形 70"/>
          <p:cNvSpPr>
            <a:spLocks noGrp="1"/>
          </p:cNvSpPr>
          <p:nvPr/>
        </p:nvSpPr>
        <p:spPr>
          <a:xfrm>
            <a:off x="8629650" y="24003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2" name="矩形 71"/>
          <p:cNvSpPr>
            <a:spLocks noGrp="1"/>
          </p:cNvSpPr>
          <p:nvPr/>
        </p:nvSpPr>
        <p:spPr>
          <a:xfrm>
            <a:off x="8972550" y="24003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3" name="矩形 72"/>
          <p:cNvSpPr>
            <a:spLocks noGrp="1"/>
          </p:cNvSpPr>
          <p:nvPr/>
        </p:nvSpPr>
        <p:spPr>
          <a:xfrm>
            <a:off x="6572250" y="27432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4" name="矩形 73"/>
          <p:cNvSpPr>
            <a:spLocks noGrp="1"/>
          </p:cNvSpPr>
          <p:nvPr/>
        </p:nvSpPr>
        <p:spPr>
          <a:xfrm>
            <a:off x="6915150" y="27432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5" name="矩形 74"/>
          <p:cNvSpPr>
            <a:spLocks noGrp="1"/>
          </p:cNvSpPr>
          <p:nvPr/>
        </p:nvSpPr>
        <p:spPr>
          <a:xfrm>
            <a:off x="7258050" y="2743200"/>
            <a:ext cx="342900" cy="34290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6" name="矩形 75"/>
          <p:cNvSpPr>
            <a:spLocks noGrp="1"/>
          </p:cNvSpPr>
          <p:nvPr/>
        </p:nvSpPr>
        <p:spPr>
          <a:xfrm>
            <a:off x="7600950" y="27432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7" name="矩形 76"/>
          <p:cNvSpPr>
            <a:spLocks noGrp="1"/>
          </p:cNvSpPr>
          <p:nvPr/>
        </p:nvSpPr>
        <p:spPr>
          <a:xfrm>
            <a:off x="7943850" y="27432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8" name="矩形 77"/>
          <p:cNvSpPr>
            <a:spLocks noGrp="1"/>
          </p:cNvSpPr>
          <p:nvPr/>
        </p:nvSpPr>
        <p:spPr>
          <a:xfrm>
            <a:off x="8286750" y="27432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9" name="矩形 78"/>
          <p:cNvSpPr>
            <a:spLocks noGrp="1"/>
          </p:cNvSpPr>
          <p:nvPr/>
        </p:nvSpPr>
        <p:spPr>
          <a:xfrm>
            <a:off x="8629650" y="27432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0" name="矩形 79"/>
          <p:cNvSpPr>
            <a:spLocks noGrp="1"/>
          </p:cNvSpPr>
          <p:nvPr/>
        </p:nvSpPr>
        <p:spPr>
          <a:xfrm>
            <a:off x="8972550" y="27432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1" name="矩形 80"/>
          <p:cNvSpPr>
            <a:spLocks noGrp="1"/>
          </p:cNvSpPr>
          <p:nvPr/>
        </p:nvSpPr>
        <p:spPr>
          <a:xfrm>
            <a:off x="6572250" y="30861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2" name="矩形 81"/>
          <p:cNvSpPr>
            <a:spLocks noGrp="1"/>
          </p:cNvSpPr>
          <p:nvPr/>
        </p:nvSpPr>
        <p:spPr>
          <a:xfrm>
            <a:off x="6915150" y="30861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3" name="矩形 82"/>
          <p:cNvSpPr>
            <a:spLocks noGrp="1"/>
          </p:cNvSpPr>
          <p:nvPr/>
        </p:nvSpPr>
        <p:spPr>
          <a:xfrm>
            <a:off x="7258050" y="3086100"/>
            <a:ext cx="342900" cy="34290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4" name="矩形 83"/>
          <p:cNvSpPr>
            <a:spLocks noGrp="1"/>
          </p:cNvSpPr>
          <p:nvPr/>
        </p:nvSpPr>
        <p:spPr>
          <a:xfrm>
            <a:off x="7600950" y="30861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5" name="矩形 84"/>
          <p:cNvSpPr>
            <a:spLocks noGrp="1"/>
          </p:cNvSpPr>
          <p:nvPr/>
        </p:nvSpPr>
        <p:spPr>
          <a:xfrm>
            <a:off x="7943850" y="30861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6" name="矩形 85"/>
          <p:cNvSpPr>
            <a:spLocks noGrp="1"/>
          </p:cNvSpPr>
          <p:nvPr/>
        </p:nvSpPr>
        <p:spPr>
          <a:xfrm>
            <a:off x="8286750" y="30861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7" name="矩形 86"/>
          <p:cNvSpPr>
            <a:spLocks noGrp="1"/>
          </p:cNvSpPr>
          <p:nvPr/>
        </p:nvSpPr>
        <p:spPr>
          <a:xfrm>
            <a:off x="8629650" y="30861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8" name="矩形 87"/>
          <p:cNvSpPr>
            <a:spLocks noGrp="1"/>
          </p:cNvSpPr>
          <p:nvPr/>
        </p:nvSpPr>
        <p:spPr>
          <a:xfrm>
            <a:off x="8972550" y="30861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9" name="矩形 88"/>
          <p:cNvSpPr>
            <a:spLocks noGrp="1"/>
          </p:cNvSpPr>
          <p:nvPr/>
        </p:nvSpPr>
        <p:spPr>
          <a:xfrm>
            <a:off x="6572250" y="1314450"/>
            <a:ext cx="2743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columnwise</a:t>
            </a:r>
            <a:endParaRPr sz="1800" b="1">
              <a:solidFill>
                <a:srgbClr val="000000"/>
              </a:solidFill>
            </a:endParaRPr>
          </a:p>
        </p:txBody>
      </p:sp>
      <p:sp>
        <p:nvSpPr>
          <p:cNvPr id="90" name="矩形 89"/>
          <p:cNvSpPr>
            <a:spLocks noGrp="1"/>
          </p:cNvSpPr>
          <p:nvPr/>
        </p:nvSpPr>
        <p:spPr>
          <a:xfrm>
            <a:off x="6572250" y="2400300"/>
            <a:ext cx="2743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32-element segment</a:t>
            </a:r>
            <a:endParaRPr sz="1125" b="1">
              <a:solidFill>
                <a:srgbClr val="FF6B35"/>
              </a:solidFill>
            </a:endParaRPr>
          </a:p>
        </p:txBody>
      </p:sp>
      <p:sp>
        <p:nvSpPr>
          <p:cNvPr id="91" name="矩形 90"/>
          <p:cNvSpPr>
            <a:spLocks noGrp="1"/>
          </p:cNvSpPr>
          <p:nvPr/>
        </p:nvSpPr>
        <p:spPr>
          <a:xfrm>
            <a:off x="6572250" y="3476625"/>
            <a:ext cx="2743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示意图省略中间元素</a:t>
            </a:r>
            <a:endParaRPr sz="1050" b="0">
              <a:solidFill>
                <a:srgbClr val="555555"/>
              </a:solidFill>
            </a:endParaRPr>
          </a:p>
        </p:txBody>
      </p:sp>
      <p:sp>
        <p:nvSpPr>
          <p:cNvPr id="92" name="矩形 91"/>
          <p:cNvSpPr>
            <a:spLocks noGrp="1"/>
          </p:cNvSpPr>
          <p:nvPr/>
        </p:nvSpPr>
        <p:spPr>
          <a:xfrm>
            <a:off x="6572250" y="3743325"/>
            <a:ext cx="27432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沿列方向</a:t>
            </a:r>
            <a:endParaRPr sz="1350" b="0">
              <a:solidFill>
                <a:srgbClr val="222222"/>
              </a:solidFill>
            </a:endParaRPr>
          </a:p>
          <a:p>
            <a:pPr algn="ctr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每 32 个连续元素共享 scale</a:t>
            </a:r>
            <a:endParaRPr sz="1350" b="0">
              <a:solidFill>
                <a:srgbClr val="222222"/>
              </a:solidFill>
            </a:endParaRPr>
          </a:p>
        </p:txBody>
      </p:sp>
      <p:sp>
        <p:nvSpPr>
          <p:cNvPr id="93" name="矩形 92"/>
          <p:cNvSpPr>
            <a:spLocks noGrp="1"/>
          </p:cNvSpPr>
          <p:nvPr/>
        </p:nvSpPr>
        <p:spPr>
          <a:xfrm>
            <a:off x="2524125" y="4953000"/>
            <a:ext cx="7143750" cy="7810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4" name="矩形 93"/>
          <p:cNvSpPr>
            <a:spLocks noGrp="1"/>
          </p:cNvSpPr>
          <p:nvPr/>
        </p:nvSpPr>
        <p:spPr>
          <a:xfrm>
            <a:off x="2714625" y="5105400"/>
            <a:ext cx="676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不是一个 2D tile 共享一个 scale</a:t>
            </a:r>
            <a:endParaRPr sz="1650" b="0">
              <a:solidFill>
                <a:srgbClr val="222222"/>
              </a:solidFill>
            </a:endParaRPr>
          </a:p>
          <a:p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rowwise / columnwise 是不同方向的 data + scale 配对</a:t>
            </a:r>
            <a:endParaRPr sz="1650" b="0">
              <a:solidFill>
                <a:srgbClr val="222222"/>
              </a:solidFill>
            </a:endParaRPr>
          </a:p>
        </p:txBody>
      </p:sp>
      <p:sp>
        <p:nvSpPr>
          <p:cNvPr id="95" name="矩形 94"/>
          <p:cNvSpPr>
            <a:spLocks noGrp="1"/>
          </p:cNvSpPr>
          <p:nvPr/>
        </p:nvSpPr>
        <p:spPr>
          <a:xfrm>
            <a:off x="400050" y="6191250"/>
            <a:ext cx="113919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96" name="矩形 95"/>
          <p:cNvSpPr>
            <a:spLocks noGrp="1"/>
          </p:cNvSpPr>
          <p:nvPr/>
        </p:nvSpPr>
        <p:spPr>
          <a:xfrm>
            <a:off x="400050" y="63055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MXFP8</a:t>
            </a:r>
            <a:endParaRPr sz="975" b="1">
              <a:solidFill>
                <a:srgbClr val="555555"/>
              </a:solidFill>
            </a:endParaRPr>
          </a:p>
        </p:txBody>
      </p:sp>
      <p:sp>
        <p:nvSpPr>
          <p:cNvPr id="97" name="矩形 96"/>
          <p:cNvSpPr>
            <a:spLocks noGrp="1"/>
          </p:cNvSpPr>
          <p:nvPr/>
        </p:nvSpPr>
        <p:spPr>
          <a:xfrm>
            <a:off x="11239500" y="63055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13</a:t>
            </a:r>
            <a:endParaRPr sz="975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2385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MXFP8</a:t>
            </a:r>
            <a:endParaRPr sz="975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625" b="0">
                <a:solidFill>
                  <a:srgbClr val="000000"/>
                </a:solidFill>
              </a:defRPr>
            </a:pPr>
            <a:r>
              <a:rPr sz="2625" b="0">
                <a:solidFill>
                  <a:srgbClr val="000000"/>
                </a:solidFill>
              </a:rPr>
              <a:t>rowwise 和 columnwise 不能靠转置互相替代</a:t>
            </a:r>
            <a:endParaRPr sz="2625" b="0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1200150"/>
            <a:ext cx="2286000" cy="19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3143250" y="1381125"/>
            <a:ext cx="5905500" cy="6477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3333750" y="1533525"/>
            <a:ext cx="552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0">
                <a:solidFill>
                  <a:srgbClr val="222222"/>
                </a:solidFill>
              </a:defRPr>
            </a:pPr>
            <a:r>
              <a:rPr sz="2100" b="0">
                <a:solidFill>
                  <a:srgbClr val="222222"/>
                </a:solidFill>
              </a:rPr>
              <a:t>quantize(x).T != quantize(x.T)</a:t>
            </a:r>
            <a:endParaRPr sz="2100" b="0">
              <a:solidFill>
                <a:srgbClr val="222222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381125" y="2266950"/>
            <a:ext cx="2743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quantize(x).T</a:t>
            </a:r>
            <a:endParaRPr sz="1800" b="1">
              <a:solidFill>
                <a:srgbClr val="000000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381125" y="26670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724025" y="26670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2066925" y="2667000"/>
            <a:ext cx="342900" cy="34290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2409825" y="26670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2752725" y="26670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095625" y="26670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3438525" y="26670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781425" y="26670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381125" y="30099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724025" y="30099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2066925" y="3009900"/>
            <a:ext cx="342900" cy="34290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2409825" y="30099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2752725" y="30099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3095625" y="30099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3438525" y="30099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3781425" y="30099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381125" y="33528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724025" y="33528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2066925" y="3352800"/>
            <a:ext cx="342900" cy="34290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2409825" y="33528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2752725" y="33528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3095625" y="33528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3438525" y="33528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3781425" y="33528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1381125" y="36957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1724025" y="36957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2066925" y="3695700"/>
            <a:ext cx="342900" cy="34290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2409825" y="36957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2752725" y="36957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3095625" y="36957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3438525" y="36957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3781425" y="36957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1381125" y="40386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1724025" y="40386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2066925" y="4038600"/>
            <a:ext cx="342900" cy="34290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2409825" y="40386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2752725" y="40386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3095625" y="40386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3438525" y="40386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3781425" y="40386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1190625" y="4619625"/>
            <a:ext cx="31242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先量化再转置</a:t>
            </a:r>
            <a:endParaRPr sz="1275" b="0">
              <a:solidFill>
                <a:srgbClr val="222222"/>
              </a:solidFill>
            </a:endParaRPr>
          </a:p>
          <a:p>
            <a:pPr algn="ctr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scale 仍来自原 x 的 rowwise block</a:t>
            </a:r>
            <a:endParaRPr sz="1275" b="0">
              <a:solidFill>
                <a:srgbClr val="222222"/>
              </a:solidFill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5667375" y="3190875"/>
            <a:ext cx="762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5100" b="1">
                <a:solidFill>
                  <a:srgbClr val="FF6B35"/>
                </a:solidFill>
              </a:defRPr>
            </a:pPr>
            <a:r>
              <a:rPr sz="5100" b="1">
                <a:solidFill>
                  <a:srgbClr val="FF6B35"/>
                </a:solidFill>
              </a:rPr>
              <a:t>≠</a:t>
            </a:r>
            <a:endParaRPr sz="5100" b="1">
              <a:solidFill>
                <a:srgbClr val="FF6B35"/>
              </a:solidFill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7286625" y="2266950"/>
            <a:ext cx="2743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quantize(x.T)</a:t>
            </a:r>
            <a:endParaRPr sz="1800" b="1">
              <a:solidFill>
                <a:srgbClr val="000000"/>
              </a:solidFill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7286625" y="26670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7629525" y="26670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7972425" y="26670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8315325" y="26670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8658225" y="26670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9001125" y="26670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9344025" y="26670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9686925" y="26670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7286625" y="3009900"/>
            <a:ext cx="342900" cy="34290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7629525" y="3009900"/>
            <a:ext cx="342900" cy="34290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7972425" y="3009900"/>
            <a:ext cx="342900" cy="34290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8315325" y="3009900"/>
            <a:ext cx="342900" cy="34290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3" name="矩形 62"/>
          <p:cNvSpPr>
            <a:spLocks noGrp="1"/>
          </p:cNvSpPr>
          <p:nvPr/>
        </p:nvSpPr>
        <p:spPr>
          <a:xfrm>
            <a:off x="8658225" y="3009900"/>
            <a:ext cx="342900" cy="34290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4" name="矩形 63"/>
          <p:cNvSpPr>
            <a:spLocks noGrp="1"/>
          </p:cNvSpPr>
          <p:nvPr/>
        </p:nvSpPr>
        <p:spPr>
          <a:xfrm>
            <a:off x="9001125" y="3009900"/>
            <a:ext cx="342900" cy="34290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9344025" y="3009900"/>
            <a:ext cx="342900" cy="34290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6" name="矩形 65"/>
          <p:cNvSpPr>
            <a:spLocks noGrp="1"/>
          </p:cNvSpPr>
          <p:nvPr/>
        </p:nvSpPr>
        <p:spPr>
          <a:xfrm>
            <a:off x="9686925" y="3009900"/>
            <a:ext cx="342900" cy="34290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7" name="矩形 66"/>
          <p:cNvSpPr>
            <a:spLocks noGrp="1"/>
          </p:cNvSpPr>
          <p:nvPr/>
        </p:nvSpPr>
        <p:spPr>
          <a:xfrm>
            <a:off x="7286625" y="33528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8" name="矩形 67"/>
          <p:cNvSpPr>
            <a:spLocks noGrp="1"/>
          </p:cNvSpPr>
          <p:nvPr/>
        </p:nvSpPr>
        <p:spPr>
          <a:xfrm>
            <a:off x="7629525" y="33528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9" name="矩形 68"/>
          <p:cNvSpPr>
            <a:spLocks noGrp="1"/>
          </p:cNvSpPr>
          <p:nvPr/>
        </p:nvSpPr>
        <p:spPr>
          <a:xfrm>
            <a:off x="7972425" y="33528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0" name="矩形 69"/>
          <p:cNvSpPr>
            <a:spLocks noGrp="1"/>
          </p:cNvSpPr>
          <p:nvPr/>
        </p:nvSpPr>
        <p:spPr>
          <a:xfrm>
            <a:off x="8315325" y="33528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1" name="矩形 70"/>
          <p:cNvSpPr>
            <a:spLocks noGrp="1"/>
          </p:cNvSpPr>
          <p:nvPr/>
        </p:nvSpPr>
        <p:spPr>
          <a:xfrm>
            <a:off x="8658225" y="33528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2" name="矩形 71"/>
          <p:cNvSpPr>
            <a:spLocks noGrp="1"/>
          </p:cNvSpPr>
          <p:nvPr/>
        </p:nvSpPr>
        <p:spPr>
          <a:xfrm>
            <a:off x="9001125" y="33528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3" name="矩形 72"/>
          <p:cNvSpPr>
            <a:spLocks noGrp="1"/>
          </p:cNvSpPr>
          <p:nvPr/>
        </p:nvSpPr>
        <p:spPr>
          <a:xfrm>
            <a:off x="9344025" y="33528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4" name="矩形 73"/>
          <p:cNvSpPr>
            <a:spLocks noGrp="1"/>
          </p:cNvSpPr>
          <p:nvPr/>
        </p:nvSpPr>
        <p:spPr>
          <a:xfrm>
            <a:off x="9686925" y="33528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5" name="矩形 74"/>
          <p:cNvSpPr>
            <a:spLocks noGrp="1"/>
          </p:cNvSpPr>
          <p:nvPr/>
        </p:nvSpPr>
        <p:spPr>
          <a:xfrm>
            <a:off x="7286625" y="36957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6" name="矩形 75"/>
          <p:cNvSpPr>
            <a:spLocks noGrp="1"/>
          </p:cNvSpPr>
          <p:nvPr/>
        </p:nvSpPr>
        <p:spPr>
          <a:xfrm>
            <a:off x="7629525" y="36957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7" name="矩形 76"/>
          <p:cNvSpPr>
            <a:spLocks noGrp="1"/>
          </p:cNvSpPr>
          <p:nvPr/>
        </p:nvSpPr>
        <p:spPr>
          <a:xfrm>
            <a:off x="7972425" y="36957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8" name="矩形 77"/>
          <p:cNvSpPr>
            <a:spLocks noGrp="1"/>
          </p:cNvSpPr>
          <p:nvPr/>
        </p:nvSpPr>
        <p:spPr>
          <a:xfrm>
            <a:off x="8315325" y="36957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9" name="矩形 78"/>
          <p:cNvSpPr>
            <a:spLocks noGrp="1"/>
          </p:cNvSpPr>
          <p:nvPr/>
        </p:nvSpPr>
        <p:spPr>
          <a:xfrm>
            <a:off x="8658225" y="36957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0" name="矩形 79"/>
          <p:cNvSpPr>
            <a:spLocks noGrp="1"/>
          </p:cNvSpPr>
          <p:nvPr/>
        </p:nvSpPr>
        <p:spPr>
          <a:xfrm>
            <a:off x="9001125" y="36957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1" name="矩形 80"/>
          <p:cNvSpPr>
            <a:spLocks noGrp="1"/>
          </p:cNvSpPr>
          <p:nvPr/>
        </p:nvSpPr>
        <p:spPr>
          <a:xfrm>
            <a:off x="9344025" y="36957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2" name="矩形 81"/>
          <p:cNvSpPr>
            <a:spLocks noGrp="1"/>
          </p:cNvSpPr>
          <p:nvPr/>
        </p:nvSpPr>
        <p:spPr>
          <a:xfrm>
            <a:off x="9686925" y="36957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3" name="矩形 82"/>
          <p:cNvSpPr>
            <a:spLocks noGrp="1"/>
          </p:cNvSpPr>
          <p:nvPr/>
        </p:nvSpPr>
        <p:spPr>
          <a:xfrm>
            <a:off x="7286625" y="40386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4" name="矩形 83"/>
          <p:cNvSpPr>
            <a:spLocks noGrp="1"/>
          </p:cNvSpPr>
          <p:nvPr/>
        </p:nvSpPr>
        <p:spPr>
          <a:xfrm>
            <a:off x="7629525" y="40386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5" name="矩形 84"/>
          <p:cNvSpPr>
            <a:spLocks noGrp="1"/>
          </p:cNvSpPr>
          <p:nvPr/>
        </p:nvSpPr>
        <p:spPr>
          <a:xfrm>
            <a:off x="7972425" y="40386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6" name="矩形 85"/>
          <p:cNvSpPr>
            <a:spLocks noGrp="1"/>
          </p:cNvSpPr>
          <p:nvPr/>
        </p:nvSpPr>
        <p:spPr>
          <a:xfrm>
            <a:off x="8315325" y="40386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7" name="矩形 86"/>
          <p:cNvSpPr>
            <a:spLocks noGrp="1"/>
          </p:cNvSpPr>
          <p:nvPr/>
        </p:nvSpPr>
        <p:spPr>
          <a:xfrm>
            <a:off x="8658225" y="40386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8" name="矩形 87"/>
          <p:cNvSpPr>
            <a:spLocks noGrp="1"/>
          </p:cNvSpPr>
          <p:nvPr/>
        </p:nvSpPr>
        <p:spPr>
          <a:xfrm>
            <a:off x="9001125" y="40386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9" name="矩形 88"/>
          <p:cNvSpPr>
            <a:spLocks noGrp="1"/>
          </p:cNvSpPr>
          <p:nvPr/>
        </p:nvSpPr>
        <p:spPr>
          <a:xfrm>
            <a:off x="9344025" y="40386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0" name="矩形 89"/>
          <p:cNvSpPr>
            <a:spLocks noGrp="1"/>
          </p:cNvSpPr>
          <p:nvPr/>
        </p:nvSpPr>
        <p:spPr>
          <a:xfrm>
            <a:off x="9686925" y="4038600"/>
            <a:ext cx="3429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1" name="矩形 90"/>
          <p:cNvSpPr>
            <a:spLocks noGrp="1"/>
          </p:cNvSpPr>
          <p:nvPr/>
        </p:nvSpPr>
        <p:spPr>
          <a:xfrm>
            <a:off x="7096125" y="4619625"/>
            <a:ext cx="31242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先转置再量化</a:t>
            </a:r>
            <a:endParaRPr sz="1275" b="0">
              <a:solidFill>
                <a:srgbClr val="222222"/>
              </a:solidFill>
            </a:endParaRPr>
          </a:p>
          <a:p>
            <a:pPr algn="ctr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scale 按 x.T 连续方向重新分组</a:t>
            </a:r>
            <a:endParaRPr sz="1275" b="0">
              <a:solidFill>
                <a:srgbClr val="222222"/>
              </a:solidFill>
            </a:endParaRPr>
          </a:p>
        </p:txBody>
      </p:sp>
      <p:sp>
        <p:nvSpPr>
          <p:cNvPr id="92" name="矩形 91"/>
          <p:cNvSpPr>
            <a:spLocks noGrp="1"/>
          </p:cNvSpPr>
          <p:nvPr/>
        </p:nvSpPr>
        <p:spPr>
          <a:xfrm>
            <a:off x="1428750" y="5334000"/>
            <a:ext cx="8572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• scale 绑定在 32 元素连续 block 上</a:t>
            </a:r>
            <a:endParaRPr sz="1500" b="0">
              <a:solidFill>
                <a:srgbClr val="222222"/>
              </a:solidFill>
            </a:endParaRPr>
          </a:p>
          <a:p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• 转置会改变连续 block 的方向</a:t>
            </a:r>
            <a:endParaRPr sz="1500" b="0">
              <a:solidFill>
                <a:srgbClr val="222222"/>
              </a:solidFill>
            </a:endParaRPr>
          </a:p>
          <a:p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• 只转置 FP8 data 会破坏 data 和 scale 的配对关系</a:t>
            </a:r>
            <a:endParaRPr sz="1500" b="0">
              <a:solidFill>
                <a:srgbClr val="222222"/>
              </a:solidFill>
            </a:endParaRPr>
          </a:p>
        </p:txBody>
      </p:sp>
      <p:sp>
        <p:nvSpPr>
          <p:cNvPr id="93" name="矩形 92"/>
          <p:cNvSpPr>
            <a:spLocks noGrp="1"/>
          </p:cNvSpPr>
          <p:nvPr/>
        </p:nvSpPr>
        <p:spPr>
          <a:xfrm>
            <a:off x="400050" y="6191250"/>
            <a:ext cx="113919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94" name="矩形 93"/>
          <p:cNvSpPr>
            <a:spLocks noGrp="1"/>
          </p:cNvSpPr>
          <p:nvPr/>
        </p:nvSpPr>
        <p:spPr>
          <a:xfrm>
            <a:off x="400050" y="63055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MXFP8</a:t>
            </a:r>
            <a:endParaRPr sz="975" b="1">
              <a:solidFill>
                <a:srgbClr val="555555"/>
              </a:solidFill>
            </a:endParaRPr>
          </a:p>
        </p:txBody>
      </p:sp>
      <p:sp>
        <p:nvSpPr>
          <p:cNvPr id="95" name="矩形 94"/>
          <p:cNvSpPr>
            <a:spLocks noGrp="1"/>
          </p:cNvSpPr>
          <p:nvPr/>
        </p:nvSpPr>
        <p:spPr>
          <a:xfrm>
            <a:off x="11239500" y="63055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14</a:t>
            </a:r>
            <a:endParaRPr sz="975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2385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MXFP8</a:t>
            </a:r>
            <a:endParaRPr sz="975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625" b="0">
                <a:solidFill>
                  <a:srgbClr val="000000"/>
                </a:solidFill>
              </a:defRPr>
            </a:pPr>
            <a:r>
              <a:rPr sz="2625" b="0">
                <a:solidFill>
                  <a:srgbClr val="000000"/>
                </a:solidFill>
              </a:rPr>
              <a:t>MXFP8 相对 DelayedScaling 的关键差异</a:t>
            </a:r>
            <a:endParaRPr sz="2625" b="0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1200150"/>
            <a:ext cx="2286000" cy="19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1524000"/>
            <a:ext cx="1743075" cy="6858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57250" y="1600200"/>
            <a:ext cx="15525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</a:rPr>
              <a:t>项目</a:t>
            </a:r>
            <a:endParaRPr sz="1275" b="1">
              <a:solidFill>
                <a:srgbClr val="222222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505075" y="1524000"/>
            <a:ext cx="4371975" cy="6858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2600325" y="1600200"/>
            <a:ext cx="41814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</a:rPr>
              <a:t>DelayedScaling</a:t>
            </a:r>
            <a:endParaRPr sz="1275" b="1">
              <a:solidFill>
                <a:srgbClr val="222222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877050" y="1524000"/>
            <a:ext cx="4152900" cy="6858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972300" y="1600200"/>
            <a:ext cx="3962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</a:rPr>
              <a:t>MXFP8</a:t>
            </a:r>
            <a:endParaRPr sz="1275" b="1">
              <a:solidFill>
                <a:srgbClr val="222222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62000" y="2209800"/>
            <a:ext cx="1743075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57250" y="2286000"/>
            <a:ext cx="15525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scale 粒度</a:t>
            </a:r>
            <a:endParaRPr sz="1125" b="0">
              <a:solidFill>
                <a:srgbClr val="222222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505075" y="2209800"/>
            <a:ext cx="4371975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2600325" y="2286000"/>
            <a:ext cx="41814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tensor 级或较粗</a:t>
            </a:r>
            <a:endParaRPr sz="1125" b="0">
              <a:solidFill>
                <a:srgbClr val="222222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877050" y="2209800"/>
            <a:ext cx="41529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972300" y="2286000"/>
            <a:ext cx="3962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32 元素 block</a:t>
            </a:r>
            <a:endParaRPr sz="1125" b="0">
              <a:solidFill>
                <a:srgbClr val="222222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62000" y="2895600"/>
            <a:ext cx="1743075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57250" y="2971800"/>
            <a:ext cx="15525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scale 来源</a:t>
            </a:r>
            <a:endParaRPr sz="1125" b="0">
              <a:solidFill>
                <a:srgbClr val="222222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505075" y="2895600"/>
            <a:ext cx="4371975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2600325" y="2971800"/>
            <a:ext cx="41814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历史 amax 更新</a:t>
            </a:r>
            <a:endParaRPr sz="1125" b="0">
              <a:solidFill>
                <a:srgbClr val="222222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877050" y="2895600"/>
            <a:ext cx="41529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972300" y="2971800"/>
            <a:ext cx="3962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当前 block 即时计算</a:t>
            </a:r>
            <a:endParaRPr sz="1125" b="0">
              <a:solidFill>
                <a:srgbClr val="222222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62000" y="3581400"/>
            <a:ext cx="1743075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57250" y="3657600"/>
            <a:ext cx="15525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运行时状态</a:t>
            </a:r>
            <a:endParaRPr sz="1125" b="0">
              <a:solidFill>
                <a:srgbClr val="222222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2505075" y="3581400"/>
            <a:ext cx="4371975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2600325" y="3657600"/>
            <a:ext cx="41814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scale / amax_history</a:t>
            </a:r>
            <a:endParaRPr sz="1125" b="0">
              <a:solidFill>
                <a:srgbClr val="222222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877050" y="3581400"/>
            <a:ext cx="41529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6972300" y="3657600"/>
            <a:ext cx="3962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基本无 delayed 状态</a:t>
            </a:r>
            <a:endParaRPr sz="1125" b="0">
              <a:solidFill>
                <a:srgbClr val="222222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62000" y="4267200"/>
            <a:ext cx="1743075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857250" y="4343400"/>
            <a:ext cx="15525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主要约束</a:t>
            </a:r>
            <a:endParaRPr sz="1125" b="0">
              <a:solidFill>
                <a:srgbClr val="222222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2505075" y="4267200"/>
            <a:ext cx="4371975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2600325" y="4343400"/>
            <a:ext cx="41814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状态更新和 amax 同步</a:t>
            </a:r>
            <a:endParaRPr sz="1125" b="0">
              <a:solidFill>
                <a:srgbClr val="222222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877050" y="4267200"/>
            <a:ext cx="41529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6972300" y="4343400"/>
            <a:ext cx="3962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方向、32 对齐、data+scale</a:t>
            </a:r>
            <a:endParaRPr sz="1125" b="0">
              <a:solidFill>
                <a:srgbClr val="222222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400050" y="6191250"/>
            <a:ext cx="113919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400050" y="63055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MXFP8</a:t>
            </a:r>
            <a:endParaRPr sz="975" b="1">
              <a:solidFill>
                <a:srgbClr val="555555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1239500" y="63055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15</a:t>
            </a:r>
            <a:endParaRPr sz="975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2385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TE runtime</a:t>
            </a:r>
            <a:endParaRPr sz="975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625" b="0">
                <a:solidFill>
                  <a:srgbClr val="000000"/>
                </a:solidFill>
              </a:defRPr>
            </a:pPr>
            <a:r>
              <a:rPr sz="2625" b="0">
                <a:solidFill>
                  <a:srgbClr val="000000"/>
                </a:solidFill>
              </a:rPr>
              <a:t>用户入口：模块替换 + recipe + autocast</a:t>
            </a:r>
            <a:endParaRPr sz="2625" b="0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1200150"/>
            <a:ext cx="2286000" cy="19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66750" y="1600200"/>
            <a:ext cx="5429250" cy="2238375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57250" y="1752600"/>
            <a:ext cx="5048250" cy="2009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layer = te.Linear(hidden_size, hidden_size)</a:t>
            </a:r>
            <a:endParaRPr sz="1275" b="0">
              <a:solidFill>
                <a:srgbClr val="222222"/>
              </a:solidFill>
            </a:endParaRPr>
          </a:p>
          <a:p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recipe = MXFP8BlockScaling(...)</a:t>
            </a:r>
            <a:endParaRPr sz="1275" b="0">
              <a:solidFill>
                <a:srgbClr val="222222"/>
              </a:solidFill>
            </a:endParaRPr>
          </a:p>
          <a:p>
            <a:endParaRPr sz="1275"/>
          </a:p>
          <a:p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with te.autocast(enabled=True, recipe=recipe):</a:t>
            </a:r>
            <a:endParaRPr sz="1275" b="0">
              <a:solidFill>
                <a:srgbClr val="222222"/>
              </a:solidFill>
            </a:endParaRPr>
          </a:p>
          <a:p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    y = layer(x)</a:t>
            </a:r>
            <a:endParaRPr sz="1275" b="0">
              <a:solidFill>
                <a:srgbClr val="222222"/>
              </a:solidFill>
            </a:endParaRPr>
          </a:p>
          <a:p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    loss = loss_fn(y, target)</a:t>
            </a:r>
            <a:endParaRPr sz="1275" b="0">
              <a:solidFill>
                <a:srgbClr val="222222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953250" y="1571625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TE 接管</a:t>
            </a:r>
            <a:endParaRPr sz="2100" b="1">
              <a:solidFill>
                <a:srgbClr val="000000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124700" y="2143125"/>
            <a:ext cx="3619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quantizer / state 创建</a:t>
            </a:r>
            <a:endParaRPr sz="1725" b="0">
              <a:solidFill>
                <a:srgbClr val="222222"/>
              </a:solidFill>
            </a:endParaRPr>
          </a:p>
          <a:p>
            <a:pPr algn="l"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量化与缓存</a:t>
            </a:r>
            <a:endParaRPr sz="1725" b="0">
              <a:solidFill>
                <a:srgbClr val="222222"/>
              </a:solidFill>
            </a:endParaRPr>
          </a:p>
          <a:p>
            <a:pPr algn="l"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GEMM 调度</a:t>
            </a:r>
            <a:endParaRPr sz="1725" b="0">
              <a:solidFill>
                <a:srgbClr val="222222"/>
              </a:solidFill>
            </a:endParaRPr>
          </a:p>
          <a:p>
            <a:pPr algn="l"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scale / amax 更新</a:t>
            </a:r>
            <a:endParaRPr sz="1725" b="0">
              <a:solidFill>
                <a:srgbClr val="222222"/>
              </a:solidFill>
            </a:endParaRPr>
          </a:p>
          <a:p>
            <a:pPr algn="l"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可选通信与 overlap</a:t>
            </a:r>
            <a:endParaRPr sz="1725" b="0">
              <a:solidFill>
                <a:srgbClr val="222222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191250" y="2705100"/>
            <a:ext cx="666750" cy="19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0" name="等腰三角形 9"/>
          <p:cNvSpPr>
            <a:spLocks noGrp="1"/>
          </p:cNvSpPr>
          <p:nvPr/>
        </p:nvSpPr>
        <p:spPr>
          <a:xfrm rot="5400000">
            <a:off x="6791325" y="2647950"/>
            <a:ext cx="133350" cy="133350"/>
          </a:xfrm>
          <a:prstGeom prst="triangle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00050" y="6191250"/>
            <a:ext cx="113919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00050" y="63055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MXFP8</a:t>
            </a:r>
            <a:endParaRPr sz="975" b="1">
              <a:solidFill>
                <a:srgbClr val="555555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239500" y="63055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16</a:t>
            </a:r>
            <a:endParaRPr sz="975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2385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TE runtime</a:t>
            </a:r>
            <a:endParaRPr sz="975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925" b="0">
                <a:solidFill>
                  <a:srgbClr val="000000"/>
                </a:solidFill>
              </a:defRPr>
            </a:pPr>
            <a:r>
              <a:rPr sz="2925" b="0">
                <a:solidFill>
                  <a:srgbClr val="000000"/>
                </a:solidFill>
              </a:rPr>
              <a:t>TE 把 recipe、量化、GEMM 和缓存组织成闭环</a:t>
            </a:r>
            <a:endParaRPr sz="2925" b="0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1200150"/>
            <a:ext cx="2286000" cy="19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3905250" y="1428750"/>
            <a:ext cx="4381500" cy="5524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038600" y="1562100"/>
            <a:ext cx="4114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用户代码</a:t>
            </a:r>
            <a:endParaRPr sz="1500" b="0">
              <a:solidFill>
                <a:srgbClr val="000000"/>
              </a:solidFill>
            </a:endParaRPr>
          </a:p>
          <a:p>
            <a:pPr algn="ctr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te.Linear + recipe + autocast</a:t>
            </a:r>
            <a:endParaRPr sz="1500" b="0">
              <a:solidFill>
                <a:srgbClr val="000000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905250" y="2286000"/>
            <a:ext cx="4381500" cy="5524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4038600" y="2419350"/>
            <a:ext cx="4114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TE module forward / backward</a:t>
            </a:r>
            <a:endParaRPr sz="1500" b="0">
              <a:solidFill>
                <a:srgbClr val="000000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905250" y="3429000"/>
            <a:ext cx="4381500" cy="66675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038600" y="3562350"/>
            <a:ext cx="4114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quantized tensor</a:t>
            </a:r>
            <a:endParaRPr sz="1500" b="0">
              <a:solidFill>
                <a:srgbClr val="000000"/>
              </a:solidFill>
            </a:endParaRPr>
          </a:p>
          <a:p>
            <a:pPr algn="ctr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FP8 data + scale (+ row/col 表示)</a:t>
            </a:r>
            <a:endParaRPr sz="1500" b="0">
              <a:solidFill>
                <a:srgbClr val="000000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905250" y="4476750"/>
            <a:ext cx="4381500" cy="5524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038600" y="4610100"/>
            <a:ext cx="4114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general_gemm() -&gt; GEMM kernel</a:t>
            </a:r>
            <a:endParaRPr sz="1500" b="0">
              <a:solidFill>
                <a:srgbClr val="000000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238500" y="5429250"/>
            <a:ext cx="5715000" cy="5143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3371850" y="5562600"/>
            <a:ext cx="5448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高精输出 + amax/scale update + backward cache</a:t>
            </a:r>
            <a:endParaRPr sz="1350" b="0">
              <a:solidFill>
                <a:srgbClr val="000000"/>
              </a:solidFill>
            </a:endParaRPr>
          </a:p>
        </p:txBody>
      </p:sp>
      <p:cxnSp>
        <p:nvCxnSpPr>
          <p:cNvPr id="40" name="直接箭头连接符 39"/>
          <p:cNvCxnSpPr>
            <a:stCxn id="4" idx="2"/>
            <a:endCxn id="6" idx="0"/>
          </p:cNvCxnSpPr>
          <p:nvPr/>
        </p:nvCxnSpPr>
        <p:spPr>
          <a:xfrm>
            <a:off x="6096000" y="1981200"/>
            <a:ext cx="0" cy="304800"/>
          </a:xfrm>
          <a:prstGeom prst="straightConnector1">
            <a:avLst/>
          </a:prstGeom>
          <a:ln w="19050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41" name="直接箭头连接符 40"/>
          <p:cNvCxnSpPr>
            <a:stCxn id="6" idx="2"/>
            <a:endCxn id="8" idx="0"/>
          </p:cNvCxnSpPr>
          <p:nvPr/>
        </p:nvCxnSpPr>
        <p:spPr>
          <a:xfrm>
            <a:off x="6096000" y="2838450"/>
            <a:ext cx="0" cy="590550"/>
          </a:xfrm>
          <a:prstGeom prst="straightConnector1">
            <a:avLst/>
          </a:prstGeom>
          <a:ln w="19050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42" name="直接箭头连接符 41"/>
          <p:cNvCxnSpPr>
            <a:stCxn id="8" idx="2"/>
            <a:endCxn id="10" idx="0"/>
          </p:cNvCxnSpPr>
          <p:nvPr/>
        </p:nvCxnSpPr>
        <p:spPr>
          <a:xfrm>
            <a:off x="6096000" y="4095750"/>
            <a:ext cx="0" cy="381000"/>
          </a:xfrm>
          <a:prstGeom prst="straightConnector1">
            <a:avLst/>
          </a:prstGeom>
          <a:ln w="19050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43" name="直接箭头连接符 42"/>
          <p:cNvCxnSpPr>
            <a:stCxn id="10" idx="2"/>
            <a:endCxn id="12" idx="0"/>
          </p:cNvCxnSpPr>
          <p:nvPr/>
        </p:nvCxnSpPr>
        <p:spPr>
          <a:xfrm>
            <a:off x="6096000" y="5029200"/>
            <a:ext cx="0" cy="400050"/>
          </a:xfrm>
          <a:prstGeom prst="straightConnector1">
            <a:avLst/>
          </a:prstGeom>
          <a:ln w="19050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18" name="矩形 17"/>
          <p:cNvSpPr>
            <a:spLocks noGrp="1"/>
          </p:cNvSpPr>
          <p:nvPr/>
        </p:nvSpPr>
        <p:spPr>
          <a:xfrm>
            <a:off x="685800" y="2524125"/>
            <a:ext cx="2381250" cy="714375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19150" y="2657475"/>
            <a:ext cx="21145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recipe state</a:t>
            </a:r>
            <a:endParaRPr sz="1275" b="0">
              <a:solidFill>
                <a:srgbClr val="000000"/>
              </a:solidFill>
            </a:endParaRPr>
          </a:p>
          <a:p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scale / amax history / dtype</a:t>
            </a:r>
            <a:endParaRPr sz="1275" b="0">
              <a:solidFill>
                <a:srgbClr val="000000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953500" y="2524125"/>
            <a:ext cx="2381250" cy="714375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086850" y="2657475"/>
            <a:ext cx="21145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quantizer</a:t>
            </a:r>
            <a:endParaRPr sz="1275" b="0">
              <a:solidFill>
                <a:srgbClr val="000000"/>
              </a:solidFill>
            </a:endParaRPr>
          </a:p>
          <a:p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高精 tensor -&gt; 量化表示</a:t>
            </a:r>
            <a:endParaRPr sz="1275" b="0">
              <a:solidFill>
                <a:srgbClr val="000000"/>
              </a:solidFill>
            </a:endParaRPr>
          </a:p>
        </p:txBody>
      </p:sp>
      <p:cxnSp>
        <p:nvCxnSpPr>
          <p:cNvPr id="48" name="直接箭头连接符 47"/>
          <p:cNvCxnSpPr>
            <a:stCxn id="18" idx="3"/>
            <a:endCxn id="6" idx="1"/>
          </p:cNvCxnSpPr>
          <p:nvPr/>
        </p:nvCxnSpPr>
        <p:spPr>
          <a:xfrm flipV="1">
            <a:off x="3067050" y="2562225"/>
            <a:ext cx="838200" cy="319088"/>
          </a:xfrm>
          <a:prstGeom prst="straightConnector1">
            <a:avLst/>
          </a:prstGeom>
          <a:ln w="19050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49" name="直接箭头连接符 48"/>
          <p:cNvCxnSpPr>
            <a:stCxn id="20" idx="1"/>
            <a:endCxn id="6" idx="3"/>
          </p:cNvCxnSpPr>
          <p:nvPr/>
        </p:nvCxnSpPr>
        <p:spPr>
          <a:xfrm flipH="1" flipV="1">
            <a:off x="8286750" y="2562225"/>
            <a:ext cx="666750" cy="319088"/>
          </a:xfrm>
          <a:prstGeom prst="straightConnector1">
            <a:avLst/>
          </a:prstGeom>
          <a:ln w="19050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24" name="矩形 23"/>
          <p:cNvSpPr>
            <a:spLocks noGrp="1"/>
          </p:cNvSpPr>
          <p:nvPr/>
        </p:nvSpPr>
        <p:spPr>
          <a:xfrm>
            <a:off x="400050" y="6191250"/>
            <a:ext cx="113919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400050" y="63055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MXFP8</a:t>
            </a:r>
            <a:endParaRPr sz="975" b="1">
              <a:solidFill>
                <a:srgbClr val="555555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1239500" y="63055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17</a:t>
            </a:r>
            <a:endParaRPr sz="975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2385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TE runtime</a:t>
            </a:r>
            <a:endParaRPr sz="975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925" b="0">
                <a:solidFill>
                  <a:srgbClr val="000000"/>
                </a:solidFill>
              </a:defRPr>
            </a:pPr>
            <a:r>
              <a:rPr sz="2925" b="0">
                <a:solidFill>
                  <a:srgbClr val="000000"/>
                </a:solidFill>
              </a:rPr>
              <a:t>Linear 三条 GEMM：方向表示和缓存复用</a:t>
            </a:r>
            <a:endParaRPr sz="2925" b="0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1200150"/>
            <a:ext cx="2286000" cy="19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66750" y="1381125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forward 量化与缓存</a:t>
            </a:r>
            <a:endParaRPr sz="1800" b="1">
              <a:solidFill>
                <a:srgbClr val="000000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1857375"/>
            <a:ext cx="1428750" cy="5905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19150" y="1990725"/>
            <a:ext cx="1162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X / W</a:t>
            </a:r>
            <a:endParaRPr sz="1350" b="0">
              <a:solidFill>
                <a:srgbClr val="000000"/>
              </a:solidFill>
            </a:endParaRPr>
          </a:p>
          <a:p>
            <a:pPr algn="ctr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高精输入</a:t>
            </a:r>
            <a:endParaRPr sz="1350" b="0">
              <a:solidFill>
                <a:srgbClr val="000000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667000" y="1857375"/>
            <a:ext cx="1809750" cy="59055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2800350" y="1990725"/>
            <a:ext cx="1543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quantizer</a:t>
            </a:r>
            <a:endParaRPr sz="1275" b="0">
              <a:solidFill>
                <a:srgbClr val="000000"/>
              </a:solidFill>
            </a:endParaRPr>
          </a:p>
          <a:p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row + col usage</a:t>
            </a:r>
            <a:endParaRPr sz="1275" b="0">
              <a:solidFill>
                <a:srgbClr val="000000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095875" y="1857375"/>
            <a:ext cx="2190750" cy="59055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5229225" y="1990725"/>
            <a:ext cx="1924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X_q / W_q</a:t>
            </a:r>
            <a:endParaRPr sz="1275" b="0">
              <a:solidFill>
                <a:srgbClr val="000000"/>
              </a:solidFill>
            </a:endParaRPr>
          </a:p>
          <a:p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rowwise + columnwise</a:t>
            </a:r>
            <a:endParaRPr sz="1275" b="0">
              <a:solidFill>
                <a:srgbClr val="000000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905750" y="1857375"/>
            <a:ext cx="2095500" cy="5905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039100" y="1990725"/>
            <a:ext cx="1828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forward GEMM</a:t>
            </a:r>
            <a:endParaRPr sz="1275" b="0">
              <a:solidFill>
                <a:srgbClr val="000000"/>
              </a:solidFill>
            </a:endParaRPr>
          </a:p>
          <a:p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X row + W row</a:t>
            </a:r>
            <a:endParaRPr sz="1275" b="0">
              <a:solidFill>
                <a:srgbClr val="000000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0477500" y="1857375"/>
            <a:ext cx="1143000" cy="5905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0610850" y="1990725"/>
            <a:ext cx="876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Y</a:t>
            </a:r>
            <a:endParaRPr sz="1350" b="0">
              <a:solidFill>
                <a:srgbClr val="000000"/>
              </a:solidFill>
            </a:endParaRPr>
          </a:p>
          <a:p>
            <a:pPr algn="ctr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高精输出</a:t>
            </a:r>
            <a:endParaRPr sz="1350" b="0">
              <a:solidFill>
                <a:srgbClr val="000000"/>
              </a:solidFill>
            </a:endParaRPr>
          </a:p>
        </p:txBody>
      </p:sp>
      <p:cxnSp>
        <p:nvCxnSpPr>
          <p:cNvPr id="56" name="直接箭头连接符 55"/>
          <p:cNvCxnSpPr>
            <a:stCxn id="5" idx="3"/>
            <a:endCxn id="7" idx="1"/>
          </p:cNvCxnSpPr>
          <p:nvPr/>
        </p:nvCxnSpPr>
        <p:spPr>
          <a:xfrm>
            <a:off x="2114550" y="2152650"/>
            <a:ext cx="552450" cy="0"/>
          </a:xfrm>
          <a:prstGeom prst="straightConnector1">
            <a:avLst/>
          </a:prstGeom>
          <a:ln w="19050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57" name="直接箭头连接符 56"/>
          <p:cNvCxnSpPr>
            <a:stCxn id="7" idx="3"/>
            <a:endCxn id="9" idx="1"/>
          </p:cNvCxnSpPr>
          <p:nvPr/>
        </p:nvCxnSpPr>
        <p:spPr>
          <a:xfrm>
            <a:off x="4476750" y="2152650"/>
            <a:ext cx="619125" cy="0"/>
          </a:xfrm>
          <a:prstGeom prst="straightConnector1">
            <a:avLst/>
          </a:prstGeom>
          <a:ln w="19050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58" name="直接箭头连接符 57"/>
          <p:cNvCxnSpPr>
            <a:stCxn id="9" idx="3"/>
            <a:endCxn id="11" idx="1"/>
          </p:cNvCxnSpPr>
          <p:nvPr/>
        </p:nvCxnSpPr>
        <p:spPr>
          <a:xfrm>
            <a:off x="7286625" y="2152650"/>
            <a:ext cx="619125" cy="0"/>
          </a:xfrm>
          <a:prstGeom prst="straightConnector1">
            <a:avLst/>
          </a:prstGeom>
          <a:ln w="19050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59" name="直接箭头连接符 58"/>
          <p:cNvCxnSpPr>
            <a:stCxn id="11" idx="3"/>
            <a:endCxn id="13" idx="1"/>
          </p:cNvCxnSpPr>
          <p:nvPr/>
        </p:nvCxnSpPr>
        <p:spPr>
          <a:xfrm>
            <a:off x="10001250" y="2152650"/>
            <a:ext cx="476250" cy="0"/>
          </a:xfrm>
          <a:prstGeom prst="straightConnector1">
            <a:avLst/>
          </a:prstGeom>
          <a:ln w="19050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19" name="矩形 18"/>
          <p:cNvSpPr>
            <a:spLocks noGrp="1"/>
          </p:cNvSpPr>
          <p:nvPr/>
        </p:nvSpPr>
        <p:spPr>
          <a:xfrm>
            <a:off x="5095875" y="2809875"/>
            <a:ext cx="2190750" cy="5524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229225" y="2943225"/>
            <a:ext cx="1924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forward cache</a:t>
            </a:r>
            <a:endParaRPr sz="1200" b="0">
              <a:solidFill>
                <a:srgbClr val="000000"/>
              </a:solidFill>
            </a:endParaRPr>
          </a:p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保留 X / W 量化表示</a:t>
            </a:r>
            <a:endParaRPr sz="1200" b="0">
              <a:solidFill>
                <a:srgbClr val="000000"/>
              </a:solidFill>
            </a:endParaRPr>
          </a:p>
        </p:txBody>
      </p:sp>
      <p:cxnSp>
        <p:nvCxnSpPr>
          <p:cNvPr id="62" name="直接箭头连接符 61"/>
          <p:cNvCxnSpPr>
            <a:stCxn id="9" idx="2"/>
            <a:endCxn id="19" idx="0"/>
          </p:cNvCxnSpPr>
          <p:nvPr/>
        </p:nvCxnSpPr>
        <p:spPr>
          <a:xfrm>
            <a:off x="6191250" y="2447925"/>
            <a:ext cx="0" cy="361950"/>
          </a:xfrm>
          <a:prstGeom prst="straightConnector1">
            <a:avLst/>
          </a:prstGeom>
          <a:ln w="19050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22" name="矩形 21"/>
          <p:cNvSpPr>
            <a:spLocks noGrp="1"/>
          </p:cNvSpPr>
          <p:nvPr/>
        </p:nvSpPr>
        <p:spPr>
          <a:xfrm>
            <a:off x="666750" y="36195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backward 复用缓存</a:t>
            </a:r>
            <a:endParaRPr sz="1800" b="1">
              <a:solidFill>
                <a:srgbClr val="000000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85800" y="4095750"/>
            <a:ext cx="1428750" cy="5905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19150" y="4229100"/>
            <a:ext cx="1162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dY</a:t>
            </a:r>
            <a:endParaRPr sz="1350" b="0">
              <a:solidFill>
                <a:srgbClr val="000000"/>
              </a:solidFill>
            </a:endParaRPr>
          </a:p>
          <a:p>
            <a:pPr algn="ctr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高精输入</a:t>
            </a:r>
            <a:endParaRPr sz="1350" b="0">
              <a:solidFill>
                <a:srgbClr val="000000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2667000" y="4095750"/>
            <a:ext cx="1809750" cy="59055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2800350" y="4229100"/>
            <a:ext cx="1543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quantizer</a:t>
            </a:r>
            <a:endParaRPr sz="1200" b="0">
              <a:solidFill>
                <a:srgbClr val="000000"/>
              </a:solidFill>
            </a:endParaRPr>
          </a:p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生成 dY row / col</a:t>
            </a:r>
            <a:endParaRPr sz="1200" b="0">
              <a:solidFill>
                <a:srgbClr val="000000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5810250" y="4000500"/>
            <a:ext cx="2333625" cy="5334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5943600" y="4133850"/>
            <a:ext cx="2066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dgrad</a:t>
            </a:r>
            <a:endParaRPr sz="1200" b="0">
              <a:solidFill>
                <a:srgbClr val="000000"/>
              </a:solidFill>
            </a:endParaRPr>
          </a:p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W col + dY row</a:t>
            </a:r>
            <a:endParaRPr sz="1200" b="0">
              <a:solidFill>
                <a:srgbClr val="000000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810250" y="4810125"/>
            <a:ext cx="2333625" cy="5334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5943600" y="4943475"/>
            <a:ext cx="20669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wgrad</a:t>
            </a:r>
            <a:endParaRPr sz="1200" b="0">
              <a:solidFill>
                <a:srgbClr val="000000"/>
              </a:solidFill>
            </a:endParaRPr>
          </a:p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X col + dY col</a:t>
            </a:r>
            <a:endParaRPr sz="1200" b="0">
              <a:solidFill>
                <a:srgbClr val="000000"/>
              </a:solidFill>
            </a:endParaRPr>
          </a:p>
        </p:txBody>
      </p:sp>
      <p:cxnSp>
        <p:nvCxnSpPr>
          <p:cNvPr id="72" name="直接箭头连接符 71"/>
          <p:cNvCxnSpPr>
            <a:stCxn id="23" idx="3"/>
            <a:endCxn id="25" idx="1"/>
          </p:cNvCxnSpPr>
          <p:nvPr/>
        </p:nvCxnSpPr>
        <p:spPr>
          <a:xfrm>
            <a:off x="2114550" y="4391025"/>
            <a:ext cx="552450" cy="0"/>
          </a:xfrm>
          <a:prstGeom prst="straightConnector1">
            <a:avLst/>
          </a:prstGeom>
          <a:ln w="19050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73" name="肘形连接符 72"/>
          <p:cNvCxnSpPr>
            <a:stCxn id="25" idx="3"/>
            <a:endCxn id="27" idx="1"/>
          </p:cNvCxnSpPr>
          <p:nvPr/>
        </p:nvCxnSpPr>
        <p:spPr>
          <a:xfrm flipV="1">
            <a:off x="4476750" y="4267200"/>
            <a:ext cx="1333500" cy="123825"/>
          </a:xfrm>
          <a:prstGeom prst="bentConnector3">
            <a:avLst>
              <a:gd name="adj1" fmla="val 50000"/>
            </a:avLst>
          </a:prstGeom>
          <a:ln w="19050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74" name="肘形连接符 73"/>
          <p:cNvCxnSpPr>
            <a:stCxn id="25" idx="3"/>
            <a:endCxn id="29" idx="1"/>
          </p:cNvCxnSpPr>
          <p:nvPr/>
        </p:nvCxnSpPr>
        <p:spPr>
          <a:xfrm>
            <a:off x="4476750" y="4391025"/>
            <a:ext cx="1333500" cy="685800"/>
          </a:xfrm>
          <a:prstGeom prst="bentConnector3">
            <a:avLst>
              <a:gd name="adj1" fmla="val 50000"/>
            </a:avLst>
          </a:prstGeom>
          <a:ln w="19050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75" name="肘形连接符 74"/>
          <p:cNvCxnSpPr>
            <a:stCxn id="19" idx="2"/>
            <a:endCxn id="27" idx="0"/>
          </p:cNvCxnSpPr>
          <p:nvPr/>
        </p:nvCxnSpPr>
        <p:spPr>
          <a:xfrm>
            <a:off x="6191250" y="3362325"/>
            <a:ext cx="785813" cy="63817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FF6B35"/>
            </a:solidFill>
            <a:prstDash val="solid"/>
            <a:tailEnd type="triangle" w="sm" len="sm"/>
          </a:ln>
        </p:spPr>
      </p:cxnSp>
      <p:cxnSp>
        <p:nvCxnSpPr>
          <p:cNvPr id="76" name="肘形连接符 75"/>
          <p:cNvCxnSpPr>
            <a:stCxn id="19" idx="2"/>
            <a:endCxn id="29" idx="0"/>
          </p:cNvCxnSpPr>
          <p:nvPr/>
        </p:nvCxnSpPr>
        <p:spPr>
          <a:xfrm>
            <a:off x="6191250" y="3362325"/>
            <a:ext cx="785813" cy="14478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FF6B35"/>
            </a:solidFill>
            <a:prstDash val="solid"/>
            <a:tailEnd type="triangle" w="sm" len="sm"/>
          </a:ln>
        </p:spPr>
      </p:cxnSp>
      <p:sp>
        <p:nvSpPr>
          <p:cNvPr id="36" name="矩形 35"/>
          <p:cNvSpPr>
            <a:spLocks noGrp="1"/>
          </p:cNvSpPr>
          <p:nvPr/>
        </p:nvSpPr>
        <p:spPr>
          <a:xfrm>
            <a:off x="8572500" y="4095750"/>
            <a:ext cx="2571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222222"/>
                </a:solidFill>
              </a:defRPr>
            </a:pPr>
            <a:r>
              <a:rPr sz="1575" b="0">
                <a:solidFill>
                  <a:srgbClr val="222222"/>
                </a:solidFill>
              </a:rPr>
              <a:t>缓存命中：避免重复量化</a:t>
            </a:r>
            <a:endParaRPr sz="1575" b="0">
              <a:solidFill>
                <a:srgbClr val="222222"/>
              </a:solidFill>
            </a:endParaRPr>
          </a:p>
          <a:p>
            <a:pPr algn="l">
              <a:defRPr sz="1575" b="0">
                <a:solidFill>
                  <a:srgbClr val="222222"/>
                </a:solidFill>
              </a:defRPr>
            </a:pPr>
            <a:r>
              <a:rPr sz="1575" b="0">
                <a:solidFill>
                  <a:srgbClr val="222222"/>
                </a:solidFill>
              </a:rPr>
              <a:t>未准备方向：重新生成</a:t>
            </a:r>
            <a:endParaRPr sz="1575" b="0">
              <a:solidFill>
                <a:srgbClr val="222222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572500" y="5000625"/>
            <a:ext cx="2762250" cy="8191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8763000" y="5153025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forward: X row + W row</a:t>
            </a:r>
            <a:endParaRPr sz="1125" b="0">
              <a:solidFill>
                <a:srgbClr val="222222"/>
              </a:solidFill>
            </a:endParaRPr>
          </a:p>
          <a:p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dgrad:   W col + dY row</a:t>
            </a:r>
            <a:endParaRPr sz="1125" b="0">
              <a:solidFill>
                <a:srgbClr val="222222"/>
              </a:solidFill>
            </a:endParaRPr>
          </a:p>
          <a:p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wgrad:   X col + dY col</a:t>
            </a:r>
            <a:endParaRPr sz="1125" b="0">
              <a:solidFill>
                <a:srgbClr val="222222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400050" y="6191250"/>
            <a:ext cx="113919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400050" y="63055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MXFP8</a:t>
            </a:r>
            <a:endParaRPr sz="975" b="1">
              <a:solidFill>
                <a:srgbClr val="555555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11239500" y="63055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18</a:t>
            </a:r>
            <a:endParaRPr sz="975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2385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TE runtime</a:t>
            </a:r>
            <a:endParaRPr sz="975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625" b="0">
                <a:solidFill>
                  <a:srgbClr val="000000"/>
                </a:solidFill>
              </a:defRPr>
            </a:pPr>
            <a:r>
              <a:rPr sz="2625" b="0">
                <a:solidFill>
                  <a:srgbClr val="000000"/>
                </a:solidFill>
              </a:rPr>
              <a:t>并行通信边界：amax 同步、低精 all-gather 和高精归约</a:t>
            </a:r>
            <a:endParaRPr sz="2625" b="0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1200150"/>
            <a:ext cx="2286000" cy="19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57250" y="1476375"/>
            <a:ext cx="8096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• 普通 FP8 的并行同步重点是 amax / scale</a:t>
            </a:r>
            <a:endParaRPr sz="1800" b="0">
              <a:solidFill>
                <a:srgbClr val="222222"/>
              </a:solidFill>
            </a:endParaRPr>
          </a:p>
          <a:p>
            <a:pPr algn="l"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• MXFP8 没有 delayed scaling 式的全局 amax 同步</a:t>
            </a:r>
            <a:endParaRPr sz="1800" b="0">
              <a:solidFill>
                <a:srgbClr val="222222"/>
              </a:solidFill>
            </a:endParaRPr>
          </a:p>
          <a:p>
            <a:pPr algn="l"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• MXFP8 低精通信主要集中在 all-gather 类路径</a:t>
            </a:r>
            <a:endParaRPr sz="1800" b="0">
              <a:solidFill>
                <a:srgbClr val="222222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57250" y="2952750"/>
            <a:ext cx="6191250" cy="5905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047750" y="3105150"/>
            <a:ext cx="581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“MXFP8 通信全链路都是低精”</a:t>
            </a:r>
            <a:endParaRPr sz="1800" b="0">
              <a:solidFill>
                <a:srgbClr val="222222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334250" y="306705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FF6B35"/>
                </a:solidFill>
              </a:defRPr>
            </a:pPr>
            <a:r>
              <a:rPr sz="1725" b="1">
                <a:solidFill>
                  <a:srgbClr val="FF6B35"/>
                </a:solidFill>
              </a:rPr>
              <a:t>需要避免</a:t>
            </a:r>
            <a:endParaRPr sz="1725" b="1">
              <a:solidFill>
                <a:srgbClr val="FF6B35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43000" y="4429125"/>
            <a:ext cx="3905250" cy="85725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276350" y="4562475"/>
            <a:ext cx="36385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all-gather</a:t>
            </a:r>
            <a:endParaRPr sz="1575" b="0">
              <a:solidFill>
                <a:srgbClr val="000000"/>
              </a:solidFill>
            </a:endParaRPr>
          </a:p>
          <a:p>
            <a:pPr algn="ctr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 data + scale 可能低精传输</a:t>
            </a:r>
            <a:endParaRPr sz="1575" b="0">
              <a:solidFill>
                <a:srgbClr val="000000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477000" y="4429125"/>
            <a:ext cx="4095750" cy="8572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610350" y="4562475"/>
            <a:ext cx="38290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reduce-scatter / all-reduce</a:t>
            </a:r>
            <a:endParaRPr sz="1575" b="0">
              <a:solidFill>
                <a:srgbClr val="000000"/>
              </a:solidFill>
            </a:endParaRPr>
          </a:p>
          <a:p>
            <a:pPr algn="ctr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多数处理 GEMM 高精输出</a:t>
            </a:r>
            <a:endParaRPr sz="1575" b="0">
              <a:solidFill>
                <a:srgbClr val="000000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191125" y="4848225"/>
            <a:ext cx="1143000" cy="19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4" name="等腰三角形 13"/>
          <p:cNvSpPr>
            <a:spLocks noGrp="1"/>
          </p:cNvSpPr>
          <p:nvPr/>
        </p:nvSpPr>
        <p:spPr>
          <a:xfrm rot="5400000">
            <a:off x="6267450" y="4791075"/>
            <a:ext cx="133350" cy="133350"/>
          </a:xfrm>
          <a:prstGeom prst="triangle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00050" y="6191250"/>
            <a:ext cx="113919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00050" y="63055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MXFP8</a:t>
            </a:r>
            <a:endParaRPr sz="975" b="1">
              <a:solidFill>
                <a:srgbClr val="555555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1239500" y="63055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19</a:t>
            </a:r>
            <a:endParaRPr sz="975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2385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MindSpeed / NPU</a:t>
            </a:r>
            <a:endParaRPr sz="975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625" b="0">
                <a:solidFill>
                  <a:srgbClr val="000000"/>
                </a:solidFill>
              </a:defRPr>
            </a:pPr>
            <a:r>
              <a:rPr sz="2625" b="0">
                <a:solidFill>
                  <a:srgbClr val="000000"/>
                </a:solidFill>
              </a:rPr>
              <a:t>MindSpeed 复用 TE 接口，执行转向 torch_npu/CANN</a:t>
            </a:r>
            <a:endParaRPr sz="2625" b="0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1200150"/>
            <a:ext cx="2286000" cy="19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09625" y="14478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TE 原生路径</a:t>
            </a:r>
            <a:endParaRPr sz="1800" b="1">
              <a:solidFill>
                <a:srgbClr val="000000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09625" y="1952625"/>
            <a:ext cx="1428750" cy="5334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42975" y="2085975"/>
            <a:ext cx="1162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用户代码</a:t>
            </a:r>
            <a:endParaRPr sz="1275" b="0">
              <a:solidFill>
                <a:srgbClr val="000000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714625" y="1952625"/>
            <a:ext cx="1428750" cy="5334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2847975" y="2085975"/>
            <a:ext cx="1162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TE Python</a:t>
            </a:r>
            <a:endParaRPr sz="1275" b="0">
              <a:solidFill>
                <a:srgbClr val="000000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619625" y="1952625"/>
            <a:ext cx="1428750" cy="5334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752975" y="2085975"/>
            <a:ext cx="1162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C++ binding</a:t>
            </a:r>
            <a:endParaRPr sz="1275" b="0">
              <a:solidFill>
                <a:srgbClr val="000000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334125" y="1952625"/>
            <a:ext cx="1333500" cy="5334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467475" y="2085975"/>
            <a:ext cx="1066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CUDA /</a:t>
            </a:r>
            <a:endParaRPr sz="1200" b="0">
              <a:solidFill>
                <a:srgbClr val="000000"/>
              </a:solidFill>
            </a:endParaRPr>
          </a:p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cuBLAS</a:t>
            </a:r>
            <a:endParaRPr sz="1200" b="0">
              <a:solidFill>
                <a:srgbClr val="000000"/>
              </a:solidFill>
            </a:endParaRPr>
          </a:p>
        </p:txBody>
      </p:sp>
      <p:cxnSp>
        <p:nvCxnSpPr>
          <p:cNvPr id="54" name="直接箭头连接符 53"/>
          <p:cNvCxnSpPr>
            <a:stCxn id="5" idx="3"/>
            <a:endCxn id="7" idx="1"/>
          </p:cNvCxnSpPr>
          <p:nvPr/>
        </p:nvCxnSpPr>
        <p:spPr>
          <a:xfrm>
            <a:off x="2238375" y="2219325"/>
            <a:ext cx="476250" cy="0"/>
          </a:xfrm>
          <a:prstGeom prst="straightConnector1">
            <a:avLst/>
          </a:prstGeom>
          <a:ln w="19050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55" name="直接箭头连接符 54"/>
          <p:cNvCxnSpPr>
            <a:stCxn id="7" idx="3"/>
            <a:endCxn id="9" idx="1"/>
          </p:cNvCxnSpPr>
          <p:nvPr/>
        </p:nvCxnSpPr>
        <p:spPr>
          <a:xfrm>
            <a:off x="4143375" y="2219325"/>
            <a:ext cx="476250" cy="0"/>
          </a:xfrm>
          <a:prstGeom prst="straightConnector1">
            <a:avLst/>
          </a:prstGeom>
          <a:ln w="19050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56" name="直接箭头连接符 55"/>
          <p:cNvCxnSpPr>
            <a:stCxn id="9" idx="3"/>
            <a:endCxn id="11" idx="1"/>
          </p:cNvCxnSpPr>
          <p:nvPr/>
        </p:nvCxnSpPr>
        <p:spPr>
          <a:xfrm>
            <a:off x="6048375" y="2219325"/>
            <a:ext cx="285750" cy="0"/>
          </a:xfrm>
          <a:prstGeom prst="straightConnector1">
            <a:avLst/>
          </a:prstGeom>
          <a:ln w="19050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16" name="矩形 15"/>
          <p:cNvSpPr>
            <a:spLocks noGrp="1"/>
          </p:cNvSpPr>
          <p:nvPr/>
        </p:nvSpPr>
        <p:spPr>
          <a:xfrm>
            <a:off x="809625" y="3000375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MindSpeed/NPU 路径</a:t>
            </a:r>
            <a:endParaRPr sz="1800" b="1">
              <a:solidFill>
                <a:srgbClr val="000000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09625" y="3505200"/>
            <a:ext cx="1428750" cy="5334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42975" y="3638550"/>
            <a:ext cx="1162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用户代码</a:t>
            </a:r>
            <a:endParaRPr sz="1275" b="0">
              <a:solidFill>
                <a:srgbClr val="000000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714625" y="3505200"/>
            <a:ext cx="1428750" cy="53340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2847975" y="3638550"/>
            <a:ext cx="1162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patched</a:t>
            </a:r>
            <a:endParaRPr sz="1200" b="0">
              <a:solidFill>
                <a:srgbClr val="000000"/>
              </a:solidFill>
            </a:endParaRPr>
          </a:p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TE path</a:t>
            </a:r>
            <a:endParaRPr sz="1200" b="0">
              <a:solidFill>
                <a:srgbClr val="000000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619625" y="3505200"/>
            <a:ext cx="1428750" cy="53340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4752975" y="3638550"/>
            <a:ext cx="1162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MindSpeed</a:t>
            </a:r>
            <a:endParaRPr sz="1200" b="0">
              <a:solidFill>
                <a:srgbClr val="000000"/>
              </a:solidFill>
            </a:endParaRPr>
          </a:p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Python</a:t>
            </a:r>
            <a:endParaRPr sz="1200" b="0">
              <a:solidFill>
                <a:srgbClr val="000000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524625" y="3505200"/>
            <a:ext cx="1428750" cy="5334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657975" y="3638550"/>
            <a:ext cx="1162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torch_npu</a:t>
            </a:r>
            <a:endParaRPr sz="1275" b="0">
              <a:solidFill>
                <a:srgbClr val="000000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429625" y="3505200"/>
            <a:ext cx="1428750" cy="5334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562975" y="3638550"/>
            <a:ext cx="1162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CANN / NPU</a:t>
            </a:r>
            <a:endParaRPr sz="1275" b="0">
              <a:solidFill>
                <a:srgbClr val="000000"/>
              </a:solidFill>
            </a:endParaRPr>
          </a:p>
        </p:txBody>
      </p:sp>
      <p:cxnSp>
        <p:nvCxnSpPr>
          <p:cNvPr id="68" name="直接箭头连接符 67"/>
          <p:cNvCxnSpPr>
            <a:stCxn id="17" idx="3"/>
            <a:endCxn id="19" idx="1"/>
          </p:cNvCxnSpPr>
          <p:nvPr/>
        </p:nvCxnSpPr>
        <p:spPr>
          <a:xfrm>
            <a:off x="2238375" y="3771900"/>
            <a:ext cx="476250" cy="0"/>
          </a:xfrm>
          <a:prstGeom prst="straightConnector1">
            <a:avLst/>
          </a:prstGeom>
          <a:ln w="19050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69" name="直接箭头连接符 68"/>
          <p:cNvCxnSpPr>
            <a:stCxn id="19" idx="3"/>
            <a:endCxn id="21" idx="1"/>
          </p:cNvCxnSpPr>
          <p:nvPr/>
        </p:nvCxnSpPr>
        <p:spPr>
          <a:xfrm>
            <a:off x="4143375" y="3771900"/>
            <a:ext cx="476250" cy="0"/>
          </a:xfrm>
          <a:prstGeom prst="straightConnector1">
            <a:avLst/>
          </a:prstGeom>
          <a:ln w="19050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70" name="直接箭头连接符 69"/>
          <p:cNvCxnSpPr>
            <a:stCxn id="21" idx="3"/>
            <a:endCxn id="23" idx="1"/>
          </p:cNvCxnSpPr>
          <p:nvPr/>
        </p:nvCxnSpPr>
        <p:spPr>
          <a:xfrm>
            <a:off x="6048375" y="3771900"/>
            <a:ext cx="476250" cy="0"/>
          </a:xfrm>
          <a:prstGeom prst="straightConnector1">
            <a:avLst/>
          </a:prstGeom>
          <a:ln w="19050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71" name="直接箭头连接符 70"/>
          <p:cNvCxnSpPr>
            <a:stCxn id="23" idx="3"/>
            <a:endCxn id="25" idx="1"/>
          </p:cNvCxnSpPr>
          <p:nvPr/>
        </p:nvCxnSpPr>
        <p:spPr>
          <a:xfrm>
            <a:off x="7953375" y="3771900"/>
            <a:ext cx="476250" cy="0"/>
          </a:xfrm>
          <a:prstGeom prst="straightConnector1">
            <a:avLst/>
          </a:prstGeom>
          <a:ln w="19050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31" name="矩形 30"/>
          <p:cNvSpPr>
            <a:spLocks noGrp="1"/>
          </p:cNvSpPr>
          <p:nvPr/>
        </p:nvSpPr>
        <p:spPr>
          <a:xfrm>
            <a:off x="2714625" y="314325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patch 接管</a:t>
            </a:r>
            <a:endParaRPr sz="1200" b="1">
              <a:solidFill>
                <a:srgbClr val="FF6B35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096250" y="14478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接口兼容层</a:t>
            </a:r>
            <a:endParaRPr sz="1800" b="1">
              <a:solidFill>
                <a:srgbClr val="000000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096250" y="1857375"/>
            <a:ext cx="3333750" cy="140970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8334375" y="2095500"/>
            <a:ext cx="2857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• TE import path 保留</a:t>
            </a:r>
            <a:endParaRPr sz="1425" b="0">
              <a:solidFill>
                <a:srgbClr val="222222"/>
              </a:solidFill>
            </a:endParaRPr>
          </a:p>
          <a:p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• Megatron-Core 调用链不变</a:t>
            </a:r>
            <a:endParaRPr sz="1425" b="0">
              <a:solidFill>
                <a:srgbClr val="222222"/>
              </a:solidFill>
            </a:endParaRPr>
          </a:p>
          <a:p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• 底层不走 TE CUDA kernel</a:t>
            </a:r>
            <a:endParaRPr sz="1425" b="0">
              <a:solidFill>
                <a:srgbClr val="222222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096250" y="4400550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接管入口</a:t>
            </a:r>
            <a:endParaRPr sz="1575" b="1">
              <a:solidFill>
                <a:srgbClr val="000000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096250" y="4743450"/>
            <a:ext cx="3333750" cy="8191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8286750" y="4895850"/>
            <a:ext cx="2952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fp8_autocast -&gt; MindSpeed</a:t>
            </a:r>
            <a:endParaRPr sz="1050" b="0">
              <a:solidFill>
                <a:srgbClr val="222222"/>
              </a:solidFill>
            </a:endParaRPr>
          </a:p>
          <a:p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MXFP8BlockScaling -&gt; recipe</a:t>
            </a:r>
            <a:endParaRPr sz="1050" b="0">
              <a:solidFill>
                <a:srgbClr val="222222"/>
              </a:solidFill>
            </a:endParaRPr>
          </a:p>
          <a:p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TE Linear -&gt; TEColumn / TERow</a:t>
            </a:r>
            <a:endParaRPr sz="1050" b="0">
              <a:solidFill>
                <a:srgbClr val="222222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09625" y="5095875"/>
            <a:ext cx="676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边界：接口复用不等于后端复用；量化、GEMM 和通算融合落到 torch_npu / CANN。</a:t>
            </a:r>
            <a:endParaRPr sz="1500" b="0">
              <a:solidFill>
                <a:srgbClr val="555555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400050" y="6191250"/>
            <a:ext cx="113919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400050" y="63055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MXFP8</a:t>
            </a:r>
            <a:endParaRPr sz="975" b="1">
              <a:solidFill>
                <a:srgbClr val="555555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11239500" y="63055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20</a:t>
            </a:r>
            <a:endParaRPr sz="975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2385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MindSpeed / NPU</a:t>
            </a:r>
            <a:endParaRPr sz="975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625" b="0">
                <a:solidFill>
                  <a:srgbClr val="000000"/>
                </a:solidFill>
              </a:defRPr>
            </a:pPr>
            <a:r>
              <a:rPr sz="2625" b="0">
                <a:solidFill>
                  <a:srgbClr val="000000"/>
                </a:solidFill>
              </a:rPr>
              <a:t>NPU 路径把 Quantizer 职责下沉到 recipe 和算子</a:t>
            </a:r>
            <a:endParaRPr sz="2625" b="0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1200150"/>
            <a:ext cx="2286000" cy="19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66750" y="1428750"/>
            <a:ext cx="5095875" cy="11239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57250" y="1581150"/>
            <a:ext cx="471487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TE 原生链路</a:t>
            </a:r>
            <a:endParaRPr sz="1125" b="0">
              <a:solidFill>
                <a:srgbClr val="222222"/>
              </a:solidFill>
            </a:endParaRPr>
          </a:p>
          <a:p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MXFP8BlockScaling -&gt; RecipeState</a:t>
            </a:r>
            <a:endParaRPr sz="1125" b="0">
              <a:solidFill>
                <a:srgbClr val="222222"/>
              </a:solidFill>
            </a:endParaRPr>
          </a:p>
          <a:p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-&gt; MXFP8Quantizer.set_usage(row/col)</a:t>
            </a:r>
            <a:endParaRPr sz="1125" b="0">
              <a:solidFill>
                <a:srgbClr val="222222"/>
              </a:solidFill>
            </a:endParaRPr>
          </a:p>
          <a:p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-&gt; MXFP8Tensor -&gt; tex.* GEMM</a:t>
            </a:r>
            <a:endParaRPr sz="1125" b="0">
              <a:solidFill>
                <a:srgbClr val="222222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429375" y="1428750"/>
            <a:ext cx="5095875" cy="11239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619875" y="1581150"/>
            <a:ext cx="471487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MindSpeed/NPU 链路</a:t>
            </a:r>
            <a:endParaRPr sz="1125" b="0">
              <a:solidFill>
                <a:srgbClr val="222222"/>
              </a:solidFill>
            </a:endParaRPr>
          </a:p>
          <a:p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MXFP8ScalingRecipe.quantization(colwise,rowwise)</a:t>
            </a:r>
            <a:endParaRPr sz="1125" b="0">
              <a:solidFill>
                <a:srgbClr val="222222"/>
              </a:solidFill>
            </a:endParaRPr>
          </a:p>
          <a:p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-&gt; npu_dynamic_mx_quant*</a:t>
            </a:r>
            <a:endParaRPr sz="1125" b="0">
              <a:solidFill>
                <a:srgbClr val="222222"/>
              </a:solidFill>
            </a:endParaRPr>
          </a:p>
          <a:p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-&gt; Float8Tensor2D -&gt; npu_quant_matmul</a:t>
            </a:r>
            <a:endParaRPr sz="1125" b="0">
              <a:solidFill>
                <a:srgbClr val="222222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66750" y="29051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三个职责迁移</a:t>
            </a:r>
            <a:endParaRPr sz="1875" b="1">
              <a:solidFill>
                <a:srgbClr val="000000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66750" y="3381375"/>
            <a:ext cx="10858500" cy="6096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904875" y="3552825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状态管理</a:t>
            </a:r>
            <a:endParaRPr sz="1575" b="1">
              <a:solidFill>
                <a:srgbClr val="000000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619375" y="3552825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RecipeState 管 scale / amax</a:t>
            </a:r>
            <a:endParaRPr sz="1350" b="0">
              <a:solidFill>
                <a:srgbClr val="222222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857875" y="3552825"/>
            <a:ext cx="47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-&gt;</a:t>
            </a:r>
            <a:endParaRPr sz="1500" b="1">
              <a:solidFill>
                <a:srgbClr val="FF6B35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524625" y="3552825"/>
            <a:ext cx="428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FP8Metadata / recipe 懒初始化</a:t>
            </a:r>
            <a:endParaRPr sz="1350" b="0">
              <a:solidFill>
                <a:srgbClr val="222222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66750" y="4162425"/>
            <a:ext cx="108585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904875" y="4333875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表示选择</a:t>
            </a:r>
            <a:endParaRPr sz="1575" b="1">
              <a:solidFill>
                <a:srgbClr val="000000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619375" y="4333875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Quantizer.set_usage(row/col)</a:t>
            </a:r>
            <a:endParaRPr sz="1350" b="0">
              <a:solidFill>
                <a:srgbClr val="222222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857875" y="4333875"/>
            <a:ext cx="47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-&gt;</a:t>
            </a:r>
            <a:endParaRPr sz="1500" b="1">
              <a:solidFill>
                <a:srgbClr val="FF6B35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524625" y="4333875"/>
            <a:ext cx="428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quantization(colwise,rowwise) 入参</a:t>
            </a:r>
            <a:endParaRPr sz="1350" b="0">
              <a:solidFill>
                <a:srgbClr val="222222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66750" y="4943475"/>
            <a:ext cx="10858500" cy="6096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04875" y="5114925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执行契约</a:t>
            </a:r>
            <a:endParaRPr sz="1575" b="1">
              <a:solidFill>
                <a:srgbClr val="000000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2619375" y="5114925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MXFP8Tensor + tex.*</a:t>
            </a:r>
            <a:endParaRPr sz="1350" b="0">
              <a:solidFill>
                <a:srgbClr val="222222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857875" y="5114925"/>
            <a:ext cx="47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-&gt;</a:t>
            </a:r>
            <a:endParaRPr sz="1500" b="1">
              <a:solidFill>
                <a:srgbClr val="FF6B35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524625" y="5114925"/>
            <a:ext cx="428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Float8Tensor2D + torch_npu 算子</a:t>
            </a:r>
            <a:endParaRPr sz="1350" b="0">
              <a:solidFill>
                <a:srgbClr val="222222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714500" y="5638800"/>
            <a:ext cx="8763000" cy="4572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905000" y="5791200"/>
            <a:ext cx="838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核心变化：没有原样搬 TE Quantizer；表示选择和量化执行更多由 recipe 入参和 torch_npu 算子契约承接。</a:t>
            </a:r>
            <a:endParaRPr sz="1200" b="0">
              <a:solidFill>
                <a:srgbClr val="222222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400050" y="6191250"/>
            <a:ext cx="113919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400050" y="63055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MXFP8</a:t>
            </a:r>
            <a:endParaRPr sz="975" b="1">
              <a:solidFill>
                <a:srgbClr val="555555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1239500" y="63055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21</a:t>
            </a:r>
            <a:endParaRPr sz="975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2385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MindSpeed / NPU</a:t>
            </a:r>
            <a:endParaRPr sz="975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625" b="0">
                <a:solidFill>
                  <a:srgbClr val="000000"/>
                </a:solidFill>
              </a:defRPr>
            </a:pPr>
            <a:r>
              <a:rPr sz="2625" b="0">
                <a:solidFill>
                  <a:srgbClr val="000000"/>
                </a:solidFill>
              </a:rPr>
              <a:t>Tensor 只保存 NPU 量化后的 row/col 表示</a:t>
            </a:r>
            <a:endParaRPr sz="2625" b="0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1200150"/>
            <a:ext cx="2286000" cy="19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57250" y="1476375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TE 原生 MXFP8Tensor</a:t>
            </a:r>
            <a:endParaRPr sz="1950" b="1">
              <a:solidFill>
                <a:srgbClr val="000000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57250" y="1952625"/>
            <a:ext cx="4476750" cy="2333625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43000" y="2238375"/>
            <a:ext cx="180975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276350" y="2371725"/>
            <a:ext cx="15430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rowwise_data</a:t>
            </a:r>
            <a:endParaRPr sz="1200" b="0">
              <a:solidFill>
                <a:srgbClr val="000000"/>
              </a:solidFill>
            </a:endParaRPr>
          </a:p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+</a:t>
            </a:r>
            <a:endParaRPr sz="1200" b="0">
              <a:solidFill>
                <a:srgbClr val="000000"/>
              </a:solidFill>
            </a:endParaRPr>
          </a:p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rowwise_scale_inv</a:t>
            </a:r>
            <a:endParaRPr sz="1200" b="0">
              <a:solidFill>
                <a:srgbClr val="000000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190875" y="2238375"/>
            <a:ext cx="180975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324225" y="2371725"/>
            <a:ext cx="15430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columnwise_data</a:t>
            </a:r>
            <a:endParaRPr sz="1200" b="0">
              <a:solidFill>
                <a:srgbClr val="000000"/>
              </a:solidFill>
            </a:endParaRPr>
          </a:p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+</a:t>
            </a:r>
            <a:endParaRPr sz="1200" b="0">
              <a:solidFill>
                <a:srgbClr val="000000"/>
              </a:solidFill>
            </a:endParaRPr>
          </a:p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scale_inv</a:t>
            </a:r>
            <a:endParaRPr sz="1200" b="0">
              <a:solidFill>
                <a:srgbClr val="000000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809750" y="3286125"/>
            <a:ext cx="2381250" cy="619125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943100" y="3419475"/>
            <a:ext cx="21145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_quantizer 引用</a:t>
            </a:r>
            <a:endParaRPr sz="1200" b="0">
              <a:solidFill>
                <a:srgbClr val="000000"/>
              </a:solidFill>
            </a:endParaRPr>
          </a:p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usage / padding 语义</a:t>
            </a:r>
            <a:endParaRPr sz="1200" b="0">
              <a:solidFill>
                <a:srgbClr val="000000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95375" y="3952875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Python runtime 管理 usage、padding、Quantizer 关联</a:t>
            </a:r>
            <a:endParaRPr sz="1125" b="0">
              <a:solidFill>
                <a:srgbClr val="555555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715125" y="1476375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MindSpeed/NPU Float8Tensor2D</a:t>
            </a:r>
            <a:endParaRPr sz="1950" b="1">
              <a:solidFill>
                <a:srgbClr val="000000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715125" y="1952625"/>
            <a:ext cx="4476750" cy="2333625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000875" y="2238375"/>
            <a:ext cx="1762125" cy="78105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134225" y="2371725"/>
            <a:ext cx="14954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row_tensor</a:t>
            </a:r>
            <a:endParaRPr sz="1200" b="0">
              <a:solidFill>
                <a:srgbClr val="000000"/>
              </a:solidFill>
            </a:endParaRPr>
          </a:p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=</a:t>
            </a:r>
            <a:endParaRPr sz="1200" b="0">
              <a:solidFill>
                <a:srgbClr val="000000"/>
              </a:solidFill>
            </a:endParaRPr>
          </a:p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data + scale</a:t>
            </a:r>
            <a:endParaRPr sz="1200" b="0">
              <a:solidFill>
                <a:srgbClr val="000000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144000" y="2238375"/>
            <a:ext cx="1762125" cy="78105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9277350" y="2371725"/>
            <a:ext cx="14954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col_tensor</a:t>
            </a:r>
            <a:endParaRPr sz="1200" b="0">
              <a:solidFill>
                <a:srgbClr val="000000"/>
              </a:solidFill>
            </a:endParaRPr>
          </a:p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=</a:t>
            </a:r>
            <a:endParaRPr sz="1200" b="0">
              <a:solidFill>
                <a:srgbClr val="000000"/>
              </a:solidFill>
            </a:endParaRPr>
          </a:p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data + scale</a:t>
            </a:r>
            <a:endParaRPr sz="1200" b="0">
              <a:solidFill>
                <a:srgbClr val="000000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715250" y="3286125"/>
            <a:ext cx="24765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848600" y="3419475"/>
            <a:ext cx="2209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origin_shape / dtype / key</a:t>
            </a:r>
            <a:endParaRPr sz="1200" b="0">
              <a:solidFill>
                <a:srgbClr val="000000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953250" y="3952875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padding、双轴量化、layout 约束下沉到 torch_npu / CANN</a:t>
            </a:r>
            <a:endParaRPr sz="1125" b="0">
              <a:solidFill>
                <a:srgbClr val="555555"/>
              </a:solidFill>
            </a:endParaRPr>
          </a:p>
        </p:txBody>
      </p:sp>
      <p:cxnSp>
        <p:nvCxnSpPr>
          <p:cNvPr id="49" name="直接箭头连接符 48"/>
          <p:cNvCxnSpPr>
            <a:stCxn id="5" idx="3"/>
            <a:endCxn id="14" idx="1"/>
          </p:cNvCxnSpPr>
          <p:nvPr/>
        </p:nvCxnSpPr>
        <p:spPr>
          <a:xfrm>
            <a:off x="5334000" y="3119438"/>
            <a:ext cx="1381125" cy="0"/>
          </a:xfrm>
          <a:prstGeom prst="straightConnector1">
            <a:avLst/>
          </a:prstGeom>
          <a:ln w="19050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23" name="矩形 22"/>
          <p:cNvSpPr>
            <a:spLocks noGrp="1"/>
          </p:cNvSpPr>
          <p:nvPr/>
        </p:nvSpPr>
        <p:spPr>
          <a:xfrm>
            <a:off x="2047875" y="4857750"/>
            <a:ext cx="8096250" cy="7429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2238375" y="5010150"/>
            <a:ext cx="7715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tensor 不再承载 Quantizer 语义；</a:t>
            </a:r>
            <a:endParaRPr sz="1650" b="0">
              <a:solidFill>
                <a:srgbClr val="222222"/>
              </a:solidFill>
            </a:endParaRPr>
          </a:p>
          <a:p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它主要保存 NPU 量化算子产出的 row / col 表示。</a:t>
            </a:r>
            <a:endParaRPr sz="1650" b="0">
              <a:solidFill>
                <a:srgbClr val="222222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00050" y="6191250"/>
            <a:ext cx="113919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400050" y="63055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MXFP8</a:t>
            </a:r>
            <a:endParaRPr sz="975" b="1">
              <a:solidFill>
                <a:srgbClr val="555555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1239500" y="63055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22</a:t>
            </a:r>
            <a:endParaRPr sz="975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2385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MindSpeed / NPU</a:t>
            </a:r>
            <a:endParaRPr sz="975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925" b="0">
                <a:solidFill>
                  <a:srgbClr val="000000"/>
                </a:solidFill>
              </a:defRPr>
            </a:pPr>
            <a:r>
              <a:rPr sz="2925" b="0">
                <a:solidFill>
                  <a:srgbClr val="000000"/>
                </a:solidFill>
              </a:rPr>
              <a:t>torch_npu 算子映射：量化与 GEMM</a:t>
            </a:r>
            <a:endParaRPr sz="2925" b="0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1200150"/>
            <a:ext cx="2286000" cy="19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66750" y="1476375"/>
            <a:ext cx="704850" cy="5905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62000" y="1552575"/>
            <a:ext cx="514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</a:rPr>
              <a:t>阶段</a:t>
            </a:r>
            <a:endParaRPr sz="1275" b="1">
              <a:solidFill>
                <a:srgbClr val="222222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371600" y="1476375"/>
            <a:ext cx="4972050" cy="5905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466850" y="1552575"/>
            <a:ext cx="4781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</a:rPr>
              <a:t>torch_npu 算子</a:t>
            </a:r>
            <a:endParaRPr sz="1275" b="1">
              <a:solidFill>
                <a:srgbClr val="222222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343650" y="1476375"/>
            <a:ext cx="4972050" cy="5905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438900" y="1552575"/>
            <a:ext cx="4781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</a:rPr>
              <a:t>数据契约</a:t>
            </a:r>
            <a:endParaRPr sz="1275" b="1">
              <a:solidFill>
                <a:srgbClr val="222222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66750" y="2066925"/>
            <a:ext cx="7048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62000" y="2143125"/>
            <a:ext cx="514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单轴量化</a:t>
            </a:r>
            <a:endParaRPr sz="1125" b="0">
              <a:solidFill>
                <a:srgbClr val="222222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371600" y="2066925"/>
            <a:ext cx="49720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466850" y="2143125"/>
            <a:ext cx="4781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npu_dynamic_mx_quant(axis=-1/-2)</a:t>
            </a:r>
            <a:endParaRPr sz="1125" b="0">
              <a:solidFill>
                <a:srgbClr val="222222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343650" y="2066925"/>
            <a:ext cx="49720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438900" y="2143125"/>
            <a:ext cx="4781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生成单方向 data + E8M0 scale</a:t>
            </a:r>
            <a:endParaRPr sz="1125" b="0">
              <a:solidFill>
                <a:srgbClr val="222222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66750" y="2657475"/>
            <a:ext cx="7048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62000" y="2733675"/>
            <a:ext cx="514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双轴量化</a:t>
            </a:r>
            <a:endParaRPr sz="1125" b="0">
              <a:solidFill>
                <a:srgbClr val="222222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371600" y="2657475"/>
            <a:ext cx="49720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466850" y="2733675"/>
            <a:ext cx="4781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npu_dynamic_mx_quant_with_dual_axis</a:t>
            </a:r>
            <a:endParaRPr sz="1125" b="0">
              <a:solidFill>
                <a:srgbClr val="222222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343650" y="2657475"/>
            <a:ext cx="49720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438900" y="2733675"/>
            <a:ext cx="4781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一次生成 col_data/scale + row_data/scale</a:t>
            </a:r>
            <a:endParaRPr sz="1125" b="0">
              <a:solidFill>
                <a:srgbClr val="222222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66750" y="3248025"/>
            <a:ext cx="7048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62000" y="3324225"/>
            <a:ext cx="514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GEMM</a:t>
            </a:r>
            <a:endParaRPr sz="1125" b="0">
              <a:solidFill>
                <a:srgbClr val="222222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371600" y="3248025"/>
            <a:ext cx="49720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466850" y="3324225"/>
            <a:ext cx="4781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npu_quant_matmul</a:t>
            </a:r>
            <a:endParaRPr sz="1125" b="0">
              <a:solidFill>
                <a:srgbClr val="222222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343650" y="3248025"/>
            <a:ext cx="49720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6438900" y="3324225"/>
            <a:ext cx="4781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消费两侧 data + scale，group_sizes=[1,1,32]</a:t>
            </a:r>
            <a:endParaRPr sz="1125" b="0">
              <a:solidFill>
                <a:srgbClr val="222222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66750" y="3838575"/>
            <a:ext cx="7048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762000" y="3914775"/>
            <a:ext cx="514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累加</a:t>
            </a:r>
            <a:endParaRPr sz="1125" b="0">
              <a:solidFill>
                <a:srgbClr val="222222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371600" y="3838575"/>
            <a:ext cx="49720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1466850" y="3914775"/>
            <a:ext cx="4781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npu_add_quant_matmul_</a:t>
            </a:r>
            <a:endParaRPr sz="1125" b="0">
              <a:solidFill>
                <a:srgbClr val="222222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343650" y="3838575"/>
            <a:ext cx="49720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6438900" y="3914775"/>
            <a:ext cx="4781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GEMM 后累加到高精 main_grad</a:t>
            </a:r>
            <a:endParaRPr sz="1125" b="0">
              <a:solidFill>
                <a:srgbClr val="222222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2000250" y="5095875"/>
            <a:ext cx="1619250" cy="55245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2133600" y="5229225"/>
            <a:ext cx="1352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量化</a:t>
            </a:r>
            <a:endParaRPr sz="1650" b="0">
              <a:solidFill>
                <a:srgbClr val="000000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5048250" y="5095875"/>
            <a:ext cx="1619250" cy="5524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5181600" y="5229225"/>
            <a:ext cx="1352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GEMM</a:t>
            </a:r>
            <a:endParaRPr sz="1650" b="0">
              <a:solidFill>
                <a:srgbClr val="000000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8096250" y="5095875"/>
            <a:ext cx="2381250" cy="5524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8229600" y="5229225"/>
            <a:ext cx="2114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高精输出 / main_grad 累加</a:t>
            </a:r>
            <a:endParaRPr sz="1500" b="0">
              <a:solidFill>
                <a:srgbClr val="000000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3733800" y="5362575"/>
            <a:ext cx="1219200" cy="19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42" name="等腰三角形 41"/>
          <p:cNvSpPr>
            <a:spLocks noGrp="1"/>
          </p:cNvSpPr>
          <p:nvPr/>
        </p:nvSpPr>
        <p:spPr>
          <a:xfrm rot="5400000">
            <a:off x="4886325" y="5305425"/>
            <a:ext cx="133350" cy="133350"/>
          </a:xfrm>
          <a:prstGeom prst="triangle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6781800" y="5362575"/>
            <a:ext cx="1219200" cy="19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44" name="等腰三角形 43"/>
          <p:cNvSpPr>
            <a:spLocks noGrp="1"/>
          </p:cNvSpPr>
          <p:nvPr/>
        </p:nvSpPr>
        <p:spPr>
          <a:xfrm rot="5400000">
            <a:off x="7934325" y="5305425"/>
            <a:ext cx="133350" cy="133350"/>
          </a:xfrm>
          <a:prstGeom prst="triangle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400050" y="6191250"/>
            <a:ext cx="113919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400050" y="63055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MXFP8</a:t>
            </a:r>
            <a:endParaRPr sz="975" b="1">
              <a:solidFill>
                <a:srgbClr val="555555"/>
              </a:solidFill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11239500" y="63055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23</a:t>
            </a:r>
            <a:endParaRPr sz="975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2385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MindSpeed / NPU</a:t>
            </a:r>
            <a:endParaRPr sz="975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925" b="0">
                <a:solidFill>
                  <a:srgbClr val="000000"/>
                </a:solidFill>
              </a:defRPr>
            </a:pPr>
            <a:r>
              <a:rPr sz="2925" b="0">
                <a:solidFill>
                  <a:srgbClr val="000000"/>
                </a:solidFill>
              </a:rPr>
              <a:t>MC2 是通算融合优化，不改变通信边界</a:t>
            </a:r>
            <a:endParaRPr sz="2925" b="0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1200150"/>
            <a:ext cx="2286000" cy="19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95375" y="1476375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DefaultOps</a:t>
            </a:r>
            <a:endParaRPr sz="2025" b="1">
              <a:solidFill>
                <a:srgbClr val="000000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47750" y="2190750"/>
            <a:ext cx="1809750" cy="5715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81100" y="2324100"/>
            <a:ext cx="1543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HP all-gather</a:t>
            </a:r>
            <a:endParaRPr sz="1500" b="0">
              <a:solidFill>
                <a:srgbClr val="000000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381375" y="2190750"/>
            <a:ext cx="1143000" cy="5715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514725" y="2324100"/>
            <a:ext cx="876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量化</a:t>
            </a:r>
            <a:endParaRPr sz="1500" b="0">
              <a:solidFill>
                <a:srgbClr val="000000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048250" y="2190750"/>
            <a:ext cx="1714500" cy="5715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5181600" y="2324100"/>
            <a:ext cx="1447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FP8 GEMM</a:t>
            </a:r>
            <a:endParaRPr sz="1500" b="0">
              <a:solidFill>
                <a:srgbClr val="000000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952750" y="2466975"/>
            <a:ext cx="333375" cy="19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3" name="等腰三角形 12"/>
          <p:cNvSpPr>
            <a:spLocks noGrp="1"/>
          </p:cNvSpPr>
          <p:nvPr/>
        </p:nvSpPr>
        <p:spPr>
          <a:xfrm rot="5400000">
            <a:off x="3219450" y="2409825"/>
            <a:ext cx="133350" cy="133350"/>
          </a:xfrm>
          <a:prstGeom prst="triangle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619625" y="2466975"/>
            <a:ext cx="333375" cy="19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5" name="等腰三角形 14"/>
          <p:cNvSpPr>
            <a:spLocks noGrp="1"/>
          </p:cNvSpPr>
          <p:nvPr/>
        </p:nvSpPr>
        <p:spPr>
          <a:xfrm rot="5400000">
            <a:off x="4886325" y="2409825"/>
            <a:ext cx="133350" cy="133350"/>
          </a:xfrm>
          <a:prstGeom prst="triangle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2095500" y="3238500"/>
            <a:ext cx="1714500" cy="5715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2228850" y="3371850"/>
            <a:ext cx="1447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FP8 GEMM</a:t>
            </a:r>
            <a:endParaRPr sz="1500" b="0">
              <a:solidFill>
                <a:srgbClr val="000000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476750" y="3238500"/>
            <a:ext cx="2476500" cy="5715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610100" y="3371850"/>
            <a:ext cx="2209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HP reduce-scatter</a:t>
            </a:r>
            <a:endParaRPr sz="1500" b="0">
              <a:solidFill>
                <a:srgbClr val="000000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905250" y="3514725"/>
            <a:ext cx="476250" cy="19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21" name="等腰三角形 20"/>
          <p:cNvSpPr>
            <a:spLocks noGrp="1"/>
          </p:cNvSpPr>
          <p:nvPr/>
        </p:nvSpPr>
        <p:spPr>
          <a:xfrm rot="5400000">
            <a:off x="4314825" y="3457575"/>
            <a:ext cx="133350" cy="133350"/>
          </a:xfrm>
          <a:prstGeom prst="triangle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001000" y="1476375"/>
            <a:ext cx="114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MC2</a:t>
            </a:r>
            <a:endParaRPr sz="2025" b="1">
              <a:solidFill>
                <a:srgbClr val="000000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524750" y="2190750"/>
            <a:ext cx="3429000" cy="66675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658100" y="2324100"/>
            <a:ext cx="3162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all-gather + quant matmul 融合</a:t>
            </a:r>
            <a:endParaRPr sz="1575" b="0">
              <a:solidFill>
                <a:srgbClr val="000000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524750" y="3238500"/>
            <a:ext cx="3429000" cy="66675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7658100" y="3371850"/>
            <a:ext cx="3162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matmul + reduce-scatter 融合</a:t>
            </a:r>
            <a:endParaRPr sz="1575" b="0">
              <a:solidFill>
                <a:srgbClr val="000000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104900" y="4619625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通算融合算子</a:t>
            </a:r>
            <a:endParaRPr sz="1725" b="1">
              <a:solidFill>
                <a:srgbClr val="000000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095375" y="5029200"/>
            <a:ext cx="4000500" cy="6858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1285875" y="5181600"/>
            <a:ext cx="3619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npu_all_gather_quant_mm</a:t>
            </a:r>
            <a:endParaRPr sz="1425" b="0">
              <a:solidFill>
                <a:srgbClr val="222222"/>
              </a:solidFill>
            </a:endParaRPr>
          </a:p>
          <a:p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npu_quant_mm_reduce_scatter</a:t>
            </a:r>
            <a:endParaRPr sz="1425" b="0">
              <a:solidFill>
                <a:srgbClr val="222222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096000" y="4648200"/>
            <a:ext cx="5191125" cy="11620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334125" y="4810125"/>
            <a:ext cx="95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边界</a:t>
            </a:r>
            <a:endParaRPr sz="1650" b="1">
              <a:solidFill>
                <a:srgbClr val="000000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429375" y="5143500"/>
            <a:ext cx="4619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• 低精通信主要在 all-gather 侧</a:t>
            </a:r>
            <a:endParaRPr sz="1350" b="0">
              <a:solidFill>
                <a:srgbClr val="222222"/>
              </a:solidFill>
            </a:endParaRPr>
          </a:p>
          <a:p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• reduce-scatter 多数处理 GEMM 高精输出</a:t>
            </a:r>
            <a:endParaRPr sz="1350" b="0">
              <a:solidFill>
                <a:srgbClr val="222222"/>
              </a:solidFill>
            </a:endParaRPr>
          </a:p>
          <a:p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• 通算融合是性能路径，不是语义依赖</a:t>
            </a:r>
            <a:endParaRPr sz="1350" b="0">
              <a:solidFill>
                <a:srgbClr val="222222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400050" y="6191250"/>
            <a:ext cx="113919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400050" y="63055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MXFP8</a:t>
            </a:r>
            <a:endParaRPr sz="975" b="1">
              <a:solidFill>
                <a:srgbClr val="555555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1239500" y="63055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24</a:t>
            </a:r>
            <a:endParaRPr sz="975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2385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Boundary</a:t>
            </a:r>
            <a:endParaRPr sz="975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925" b="0">
                <a:solidFill>
                  <a:srgbClr val="000000"/>
                </a:solidFill>
              </a:defRPr>
            </a:pPr>
            <a:r>
              <a:rPr sz="2925" b="0">
                <a:solidFill>
                  <a:srgbClr val="000000"/>
                </a:solidFill>
              </a:rPr>
              <a:t>落地收益取决于稳定性、对齐和 kernel 覆盖</a:t>
            </a:r>
            <a:endParaRPr sz="2925" b="0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1200150"/>
            <a:ext cx="2286000" cy="19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76300" y="1619250"/>
            <a:ext cx="2905125" cy="31432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04900" y="192405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算法侧</a:t>
            </a:r>
            <a:endParaRPr sz="2100" b="1">
              <a:solidFill>
                <a:srgbClr val="000000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43000" y="2667000"/>
            <a:ext cx="2381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• 稳定性和收敛</a:t>
            </a:r>
            <a:endParaRPr sz="1650" b="0">
              <a:solidFill>
                <a:srgbClr val="222222"/>
              </a:solidFill>
            </a:endParaRPr>
          </a:p>
          <a:p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• 格式选择</a:t>
            </a:r>
            <a:endParaRPr sz="1650" b="0">
              <a:solidFill>
                <a:srgbClr val="222222"/>
              </a:solidFill>
            </a:endParaRPr>
          </a:p>
          <a:p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• 哪些层适合低精</a:t>
            </a:r>
            <a:endParaRPr sz="1650" b="0">
              <a:solidFill>
                <a:srgbClr val="222222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495800" y="1619250"/>
            <a:ext cx="2905125" cy="314325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4724400" y="192405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框架侧</a:t>
            </a:r>
            <a:endParaRPr sz="2100" b="1">
              <a:solidFill>
                <a:srgbClr val="000000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762500" y="2667000"/>
            <a:ext cx="2381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• 32 对齐和 shard 边界</a:t>
            </a:r>
            <a:endParaRPr sz="1650" b="0">
              <a:solidFill>
                <a:srgbClr val="222222"/>
              </a:solidFill>
            </a:endParaRPr>
          </a:p>
          <a:p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• rowwise / columnwise 缓存</a:t>
            </a:r>
            <a:endParaRPr sz="1650" b="0">
              <a:solidFill>
                <a:srgbClr val="222222"/>
              </a:solidFill>
            </a:endParaRPr>
          </a:p>
          <a:p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• 通信路径和 fallback</a:t>
            </a:r>
            <a:endParaRPr sz="1650" b="0">
              <a:solidFill>
                <a:srgbClr val="222222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115300" y="1619250"/>
            <a:ext cx="2905125" cy="31432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343900" y="192405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收益侧</a:t>
            </a:r>
            <a:endParaRPr sz="2100" b="1">
              <a:solidFill>
                <a:srgbClr val="000000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382000" y="2667000"/>
            <a:ext cx="2381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• 不承诺固定加速比</a:t>
            </a:r>
            <a:endParaRPr sz="1650" b="0">
              <a:solidFill>
                <a:srgbClr val="222222"/>
              </a:solidFill>
            </a:endParaRPr>
          </a:p>
          <a:p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• 公开结果是旁证，不是直接外推</a:t>
            </a:r>
            <a:endParaRPr sz="1650" b="0">
              <a:solidFill>
                <a:srgbClr val="222222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00050" y="6191250"/>
            <a:ext cx="113919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00050" y="63055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MXFP8</a:t>
            </a:r>
            <a:endParaRPr sz="975" b="1">
              <a:solidFill>
                <a:srgbClr val="555555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1239500" y="63055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25</a:t>
            </a:r>
            <a:endParaRPr sz="975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2385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Boundary</a:t>
            </a:r>
            <a:endParaRPr sz="975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925" b="0">
                <a:solidFill>
                  <a:srgbClr val="000000"/>
                </a:solidFill>
              </a:defRPr>
            </a:pPr>
            <a:r>
              <a:rPr sz="2925" b="0">
                <a:solidFill>
                  <a:srgbClr val="000000"/>
                </a:solidFill>
              </a:rPr>
              <a:t>总结：三句话回到主线</a:t>
            </a:r>
            <a:endParaRPr sz="2925" b="0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1200150"/>
            <a:ext cx="2286000" cy="19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76300" y="1695450"/>
            <a:ext cx="609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3375" b="1">
                <a:solidFill>
                  <a:srgbClr val="FF6B35"/>
                </a:solidFill>
              </a:defRPr>
            </a:pPr>
            <a:r>
              <a:rPr sz="3375" b="1">
                <a:solidFill>
                  <a:srgbClr val="FF6B35"/>
                </a:solidFill>
              </a:rPr>
              <a:t>1</a:t>
            </a:r>
            <a:endParaRPr sz="3375" b="1">
              <a:solidFill>
                <a:srgbClr val="FF6B35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762125" y="1695450"/>
            <a:ext cx="857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FP8 不是全局 dtype 切换，而是模块内的低精运行时。</a:t>
            </a:r>
            <a:endParaRPr sz="2175" b="0">
              <a:solidFill>
                <a:srgbClr val="000000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762125" y="2457450"/>
            <a:ext cx="809625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76300" y="2895600"/>
            <a:ext cx="609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3375" b="1">
                <a:solidFill>
                  <a:srgbClr val="FF6B35"/>
                </a:solidFill>
              </a:defRPr>
            </a:pPr>
            <a:r>
              <a:rPr sz="3375" b="1">
                <a:solidFill>
                  <a:srgbClr val="FF6B35"/>
                </a:solidFill>
              </a:rPr>
              <a:t>2</a:t>
            </a:r>
            <a:endParaRPr sz="3375" b="1">
              <a:solidFill>
                <a:srgbClr val="FF6B35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762125" y="2895600"/>
            <a:ext cx="857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MXFP8 的核心是 32 元素 microscaling，把 scale 从 tensor 级细化到 block 级。</a:t>
            </a:r>
            <a:endParaRPr sz="2175" b="0">
              <a:solidFill>
                <a:srgbClr val="000000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762125" y="3657600"/>
            <a:ext cx="809625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76300" y="4095750"/>
            <a:ext cx="609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3375" b="1">
                <a:solidFill>
                  <a:srgbClr val="FF6B35"/>
                </a:solidFill>
              </a:defRPr>
            </a:pPr>
            <a:r>
              <a:rPr sz="3375" b="1">
                <a:solidFill>
                  <a:srgbClr val="FF6B35"/>
                </a:solidFill>
              </a:rPr>
              <a:t>3</a:t>
            </a:r>
            <a:endParaRPr sz="3375" b="1">
              <a:solidFill>
                <a:srgbClr val="FF6B35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762125" y="4095750"/>
            <a:ext cx="857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工程实现的关键是把量化、scale、GEMM、缓存复用和通信组织成稳定闭环。</a:t>
            </a:r>
            <a:endParaRPr sz="2175" b="0">
              <a:solidFill>
                <a:srgbClr val="000000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762125" y="4857750"/>
            <a:ext cx="809625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00050" y="6191250"/>
            <a:ext cx="113919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00050" y="63055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MXFP8</a:t>
            </a:r>
            <a:endParaRPr sz="975" b="1">
              <a:solidFill>
                <a:srgbClr val="555555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1239500" y="63055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26</a:t>
            </a:r>
            <a:endParaRPr sz="975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2385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Backup</a:t>
            </a:r>
            <a:endParaRPr sz="975" b="1">
              <a:solidFill>
                <a:srgbClr val="55555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5524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925" b="0">
                <a:solidFill>
                  <a:srgbClr val="000000"/>
                </a:solidFill>
              </a:defRPr>
            </a:pPr>
            <a:r>
              <a:rPr sz="2925" b="0">
                <a:solidFill>
                  <a:srgbClr val="000000"/>
                </a:solidFill>
              </a:rPr>
              <a:t>预期问题与建议回答</a:t>
            </a:r>
            <a:endParaRPr sz="2925" b="0">
              <a:solidFill>
                <a:srgbClr val="00000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1200150"/>
            <a:ext cx="2286000" cy="19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952500" y="1571625"/>
            <a:ext cx="93345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90625" y="1685925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FP8 梯度是不是也用 FP8 累加？</a:t>
            </a:r>
            <a:endParaRPr sz="1650" b="0">
              <a:solidFill>
                <a:srgbClr val="000000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52500" y="2257425"/>
            <a:ext cx="9334500" cy="4762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190625" y="2371725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MXFP8 是否完全不需要通信？</a:t>
            </a:r>
            <a:endParaRPr sz="1650" b="0">
              <a:solidFill>
                <a:srgbClr val="000000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52500" y="2943225"/>
            <a:ext cx="93345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190625" y="3057525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MXFP8 通信是不是全链路低精？</a:t>
            </a:r>
            <a:endParaRPr sz="1650" b="0">
              <a:solidFill>
                <a:srgbClr val="000000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52500" y="3629025"/>
            <a:ext cx="9334500" cy="4762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90625" y="3743325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rowwise / columnwise 能否靠 transpose 解决？</a:t>
            </a:r>
            <a:endParaRPr sz="1650" b="0">
              <a:solidFill>
                <a:srgbClr val="000000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52500" y="4314825"/>
            <a:ext cx="93345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190625" y="4429125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MindSpeed 是否依赖 TE CUDA 后端？</a:t>
            </a:r>
            <a:endParaRPr sz="1650" b="0">
              <a:solidFill>
                <a:srgbClr val="000000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00050" y="6191250"/>
            <a:ext cx="113919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00050" y="63055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Backup</a:t>
            </a:r>
            <a:endParaRPr sz="975" b="1">
              <a:solidFill>
                <a:srgbClr val="555555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1239500" y="63055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27</a:t>
            </a:r>
            <a:endParaRPr sz="975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6454</Words>
  <Application>WPS 演示</Application>
  <PresentationFormat>Converted Presentation</PresentationFormat>
  <Paragraphs>844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8" baseType="lpstr">
      <vt:lpstr>Arial</vt:lpstr>
      <vt:lpstr>宋体</vt:lpstr>
      <vt:lpstr>Wingdings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浩</cp:lastModifiedBy>
  <cp:revision>2</cp:revision>
  <dcterms:created xsi:type="dcterms:W3CDTF">2026-07-09T10:49:17Z</dcterms:created>
  <dcterms:modified xsi:type="dcterms:W3CDTF">2026-07-09T10:49:17Z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2052-12.1.26026.26026</vt:lpwstr>
  </property>
  <property fmtid="{D5CDD505-2E9C-101B-9397-08002B2CF9AE}" pid="3" name="ICV">
    <vt:lpwstr>787DAEC5485582E4A67C4F6A3B35C864_42</vt:lpwstr>
  </property>
</Properties>
</file>